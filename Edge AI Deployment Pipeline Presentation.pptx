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3" r:id="rId2"/>
    <p:sldMasterId id="2147483665" r:id="rId3"/>
  </p:sldMasterIdLst>
  <p:notesMasterIdLst>
    <p:notesMasterId r:id="rId54"/>
  </p:notesMasterIdLst>
  <p:sldIdLst>
    <p:sldId id="256" r:id="rId4"/>
    <p:sldId id="305" r:id="rId5"/>
    <p:sldId id="272" r:id="rId6"/>
    <p:sldId id="273" r:id="rId7"/>
    <p:sldId id="274" r:id="rId8"/>
    <p:sldId id="286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4" r:id="rId17"/>
    <p:sldId id="285" r:id="rId18"/>
    <p:sldId id="259" r:id="rId19"/>
    <p:sldId id="282" r:id="rId20"/>
    <p:sldId id="283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87" r:id="rId30"/>
    <p:sldId id="288" r:id="rId31"/>
    <p:sldId id="258" r:id="rId32"/>
    <p:sldId id="289" r:id="rId33"/>
    <p:sldId id="260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6" r:id="rId50"/>
    <p:sldId id="307" r:id="rId51"/>
    <p:sldId id="308" r:id="rId52"/>
    <p:sldId id="309" r:id="rId5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A"/>
    <a:srgbClr val="0496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9T11:19:05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24575,'1376'0'0,"-1358"2"0,-1-1 0,0 2 0,0 1 0,0 0 0,21 8 0,-20-5 0,1-2 0,0 0 0,0-1 0,21 1 0,91 8 0,47 0 0,695-14-1365,-851 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39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C0A86-BBE8-280C-3BC6-602542E8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E7349-8674-0754-8E90-69F69DF94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03138-2BF8-E887-1D94-26DF053EE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5BFD6-6AA3-CF14-D39A-5970152C3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984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D388-16C8-5FC2-1E0A-063F210E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EEDCE-EB7B-0F6D-84BD-B4170A263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7C259-B0B0-F3D3-5C48-5940CCF34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F335F-565A-F355-7734-F5B38C400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065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261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516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93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836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665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316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919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963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417B-1B55-1F17-BE69-416D330F8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38C0E-649B-505C-49FF-835E0A8FA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1A31-4FDE-1FE2-6058-F7E1DC9C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7B8E7-9D6C-A4C2-547C-371DDFAB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25EFC-96A5-F712-8858-89F6C657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370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9F78-5375-D864-8311-756D73DEB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55142-33CE-B99C-BDCE-664A1B892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F008-A1E3-5D43-EEBC-66CB101F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664E8-765F-4EDF-08DF-F72CC945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A3EC7-5ECF-0308-D7AB-F58F7D44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9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5EF06-8C7C-8E4A-DC6A-C865D650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FC1D6-C56A-4A75-208C-F52305D7C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49A84-EC76-5C3B-55CD-5ED1BE44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217E9-7A30-0941-24D2-F3DC342B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EF295-689F-CDEF-53CB-42668448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430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39B5-4CAF-1DAC-3B9D-9A9295549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D4BEC-710D-E0B5-4709-387499FCB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3FBF2-A65C-6299-AE5A-267756B36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B467F-D48E-E6A9-3462-B6C4C00B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75CD8-6F30-2A31-DF1B-1561896A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859B4-467F-6DAA-1DD4-F8A73174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801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F4D8F-F894-A133-F996-BBB8A904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A654-D086-B7B5-FDB4-D1C1668A2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07409-CBF1-FDAB-4D1E-7B26228CA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7E7A5-1776-D8B1-F1EE-1EBFB1FAF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EF9C8-70E4-9974-2938-500E55E00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C95FB4-4535-0989-93DD-B1438E4A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E0DAA-B36C-6771-15EC-67A54C08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B8DAD-4AE4-5676-2F55-ACC84905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860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4E4C-ACF4-7FDF-DAF4-C6F61D29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CC13D-7647-E10B-38E1-DDB9827D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EF14C-096C-B7F4-0A1C-39CDD8C7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506D2-73B2-AAA8-7193-4E26AEB9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76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E36BA-196A-8BA0-56B7-7500FAAA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D1172-7BC3-91F6-4721-C4780606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0BFDD-B9CF-882E-F2CF-900D28EA4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764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4B08-247F-278F-3E59-EB7DD065E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258F1-2EFC-BF56-BB9D-7B1B1FA97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CA103-F44E-6858-A70D-198B59DF5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9B05B-D1F2-4494-6B14-B4BECFE4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C2720-D65B-BED7-F832-E7D41872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B1B1C-AE1D-C68F-775D-923FED4E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92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A675-A394-06EA-6986-EEEECFD4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EA4CF-C7A4-E564-D59B-D1E8BED21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911CB-7F5E-136E-F95A-68E5B327C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AEB5D-F7CA-63D6-4AB8-1BB2D81F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99A69-9191-49DE-1D94-68FE42AB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B66A3-C4A8-7717-683B-2F7FBCF1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511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B186-F3B8-B901-CDD1-15158787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25DD9-9AA7-6F3D-A6DD-BC264EBD9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9225E-4AFA-5768-5249-6809621D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08753-B7A6-4DF6-B21D-4DB18702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8F648-225D-68DA-2AC0-EF95379C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756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C3225-CAB8-604C-A30E-4306C9D07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9525F-7FA5-B66E-DD7B-F6C21D3B8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02F5F-6B27-1B82-677E-49E26E32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8B6FF-D7D6-F6E7-EEAD-40EA7D85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CDF40-A931-77FB-7E10-63DA6D88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837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855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466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BB0C-0084-886B-B000-09221908F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03A55-AAEC-5081-F063-497637CAA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C2B65-3D26-CBF3-5F39-A4828FD5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24395-9C6B-3371-4A05-F7007838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8E86B-6542-5779-F2B2-1CC481CC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00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D4DC-2036-DC87-4993-B20E83375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53BAA-D8AC-C1BF-88BC-D1F07C821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CC593-F3D4-C2DA-A2EF-70B9698D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4E6E0-D5A5-39F9-0F6D-3C8982D1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2DE08-8369-C488-176D-2E7FE7CF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16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6534-29AC-A2AE-5CCC-AEB8763B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83547-D484-F88E-54AF-3792B9CAD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EF250-D846-1CEF-7B08-4C1ED7E85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63341-7DB4-C1D3-1037-D9DB3AF2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97921-4E20-B573-9A05-A2E89BC4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9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F1E2-CE5A-07E5-0DCC-AB72F8320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BF898-9164-DA57-D499-BA764E479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1975F-3979-9ADD-04CC-C9EF19B0B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C01C6-49C8-8531-B6CB-D7D19433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DB628-A7B0-300E-E96F-3E30AD90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7C973-B3A5-5270-219D-263C85D0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781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BCC0-4646-8281-1DA1-8C0B355F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13F5-63C9-452C-02AE-B269F3A6B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D3F5A-BA0B-B6F4-CBE9-A500CC9F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F5E6C-AE80-B820-EE5E-5B68465D1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24FCE-A613-F5AC-277E-A52F5C9CE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200A5-506A-9D36-A731-E094BBDB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D1D3BA-7F28-D233-AA4A-F881D7DD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83902-02A8-7D1C-BF4C-E1A26DEF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33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9D2D-99F6-C424-FA67-07C02EDE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0651B-7E7C-36AA-D7FB-A7FFB0CC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ABC637-0B89-70FD-DFAD-E1F21222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8E93F-EF16-A2B5-7E22-3305E220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1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F0761-0C78-2D89-E836-79D3487B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6AD948-FA6B-047B-CB19-C644403B4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4B533-7C17-4A98-3245-DFCCC125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52E9-9FDD-E790-E9B4-9E27204D7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28A9-4C48-D921-76AB-85664F30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6A02E-CEA2-435A-183A-A82F1ADA9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06AF0-4BAA-0502-4603-FEABE75E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ABB23-20DD-8ABA-847D-5C53A296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E40B0-3D34-1694-751D-4C0C56DE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08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3CE4-891E-10A4-F262-D7024602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DD06A-6AF2-571E-6666-E466ACDD4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B17EC-CD69-6AD9-D164-CB30053F9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9E7AC-C1C5-88A6-DAF1-916E52D8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E65C5-07C4-2B33-FBF8-80321EDD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E8486-D3A8-875B-9331-2E2BEAC3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17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5763-D53E-EA35-E9D7-005B51E6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3D7CE-936B-6F4F-3ECE-C7C6200C2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AD955-083D-C636-3798-4A9F79B7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EACCA-28FC-67B6-C79E-3C2A3B5A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EF8E1-7634-3084-04F6-1C91AA7E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51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D15E0-E9E8-7CA2-69C1-30BC28110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AD49D-2519-0D63-BD41-F4CB15C93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06C2B-D4F8-47EE-2AF5-54AFA3C2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D9724-A640-519B-DC61-C6CC49C7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365E2-0CC8-315B-A245-3F75337C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5A218-6AC8-4FCC-4251-69972FA20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E3D18-25B0-348C-4607-8C5AD7389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BAC89-8DAB-FCA0-9B36-72D234621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F355A-ED44-49A3-9A55-C860BB20A23E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85BB4-7040-68A4-D3A7-3C25F97B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4398C-F282-842C-1D1F-324130A98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791D7-2253-48AF-A926-901B169B9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6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44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C6BA9-9C06-D059-4FD9-1B796EA5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CD160-2E63-A083-03A7-7A93E2E7D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88AE-AA08-4D57-A988-0BF322721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21264-147F-40F7-9FFA-4218A736067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0135-6774-4469-305C-042A1CD1D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2465E-BDB9-F19C-62AA-B55051F83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7C35E-CD66-4A4D-BAED-F1B8AD09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1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377440" cy="2377440"/>
          </a:xfrm>
          <a:prstGeom prst="ellipse">
            <a:avLst/>
          </a:prstGeom>
          <a:solidFill>
            <a:srgbClr val="04968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Deployment Pipeline for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Resource-Constrained Embedded Systems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58368" y="4511040"/>
            <a:ext cx="128016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93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Adil Nadeem   |   PSAU Research &amp; Development Center   |   6-27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3840480" cy="384048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00C2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3CE131A-C7DB-E4DB-51FC-D72836CE20AD}"/>
              </a:ext>
            </a:extLst>
          </p:cNvPr>
          <p:cNvGrpSpPr/>
          <p:nvPr/>
        </p:nvGrpSpPr>
        <p:grpSpPr>
          <a:xfrm>
            <a:off x="640080" y="1371600"/>
            <a:ext cx="10972800" cy="4297680"/>
            <a:chOff x="640080" y="1371600"/>
            <a:chExt cx="10972800" cy="4297680"/>
          </a:xfrm>
        </p:grpSpPr>
        <p:sp>
          <p:nvSpPr>
            <p:cNvPr id="901" name="Text 10"/>
            <p:cNvSpPr/>
            <p:nvPr/>
          </p:nvSpPr>
          <p:spPr>
            <a:xfrm>
              <a:off x="640080" y="137160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01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2" name="Text 11"/>
            <p:cNvSpPr/>
            <p:nvPr/>
          </p:nvSpPr>
          <p:spPr>
            <a:xfrm>
              <a:off x="1508760" y="137160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 &amp; Project Overview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3" name="Text 12"/>
            <p:cNvSpPr/>
            <p:nvPr/>
          </p:nvSpPr>
          <p:spPr>
            <a:xfrm>
              <a:off x="10332720" y="137160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03-05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4" name="Shape 5"/>
            <p:cNvSpPr/>
            <p:nvPr/>
          </p:nvSpPr>
          <p:spPr>
            <a:xfrm>
              <a:off x="640080" y="184708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5" name="Text 10"/>
            <p:cNvSpPr/>
            <p:nvPr/>
          </p:nvSpPr>
          <p:spPr>
            <a:xfrm>
              <a:off x="640080" y="192024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02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6" name="Text 11"/>
            <p:cNvSpPr/>
            <p:nvPr/>
          </p:nvSpPr>
          <p:spPr>
            <a:xfrm>
              <a:off x="1508760" y="192024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Research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7" name="Text 12"/>
            <p:cNvSpPr/>
            <p:nvPr/>
          </p:nvSpPr>
          <p:spPr>
            <a:xfrm>
              <a:off x="10332720" y="192024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06-15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8" name="Shape 5"/>
            <p:cNvSpPr/>
            <p:nvPr/>
          </p:nvSpPr>
          <p:spPr>
            <a:xfrm>
              <a:off x="640080" y="239572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9" name="Text 10"/>
            <p:cNvSpPr/>
            <p:nvPr/>
          </p:nvSpPr>
          <p:spPr>
            <a:xfrm>
              <a:off x="640080" y="246888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03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0" name="Text 11"/>
            <p:cNvSpPr/>
            <p:nvPr/>
          </p:nvSpPr>
          <p:spPr>
            <a:xfrm>
              <a:off x="1508760" y="246888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 Architecture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1" name="Text 12"/>
            <p:cNvSpPr/>
            <p:nvPr/>
          </p:nvSpPr>
          <p:spPr>
            <a:xfrm>
              <a:off x="10332720" y="246888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16-18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2" name="Shape 5"/>
            <p:cNvSpPr/>
            <p:nvPr/>
          </p:nvSpPr>
          <p:spPr>
            <a:xfrm>
              <a:off x="640080" y="294436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3" name="Text 10"/>
            <p:cNvSpPr/>
            <p:nvPr/>
          </p:nvSpPr>
          <p:spPr>
            <a:xfrm>
              <a:off x="640080" y="301752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04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4" name="Text 11"/>
            <p:cNvSpPr/>
            <p:nvPr/>
          </p:nvSpPr>
          <p:spPr>
            <a:xfrm>
              <a:off x="1508760" y="301752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Case Study: Real-Time Drone Detection – AMB82-mini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5" name="Text 12"/>
            <p:cNvSpPr/>
            <p:nvPr/>
          </p:nvSpPr>
          <p:spPr>
            <a:xfrm>
              <a:off x="10332720" y="301752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19–26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6" name="Shape 5"/>
            <p:cNvSpPr/>
            <p:nvPr/>
          </p:nvSpPr>
          <p:spPr>
            <a:xfrm>
              <a:off x="640080" y="349300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7" name="Text 10"/>
            <p:cNvSpPr/>
            <p:nvPr/>
          </p:nvSpPr>
          <p:spPr>
            <a:xfrm>
              <a:off x="640080" y="356616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05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8" name="Text 11"/>
            <p:cNvSpPr/>
            <p:nvPr/>
          </p:nvSpPr>
          <p:spPr>
            <a:xfrm>
              <a:off x="1508760" y="356616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Case Study: Real-Time Drone Detection – Raspberry Pi Zero 2W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9" name="Text 12"/>
            <p:cNvSpPr/>
            <p:nvPr/>
          </p:nvSpPr>
          <p:spPr>
            <a:xfrm>
              <a:off x="10332720" y="356616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27–36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0" name="Shape 5"/>
            <p:cNvSpPr/>
            <p:nvPr/>
          </p:nvSpPr>
          <p:spPr>
            <a:xfrm>
              <a:off x="640080" y="404164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1" name="Text 10"/>
            <p:cNvSpPr/>
            <p:nvPr/>
          </p:nvSpPr>
          <p:spPr>
            <a:xfrm>
              <a:off x="640080" y="411480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06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2" name="Text 11"/>
            <p:cNvSpPr/>
            <p:nvPr/>
          </p:nvSpPr>
          <p:spPr>
            <a:xfrm>
              <a:off x="1508760" y="411480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Comparison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3" name="Text 12"/>
            <p:cNvSpPr/>
            <p:nvPr/>
          </p:nvSpPr>
          <p:spPr>
            <a:xfrm>
              <a:off x="10332720" y="411480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37–40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4" name="Shape 5"/>
            <p:cNvSpPr/>
            <p:nvPr/>
          </p:nvSpPr>
          <p:spPr>
            <a:xfrm>
              <a:off x="640080" y="459028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5" name="Text 10"/>
            <p:cNvSpPr/>
            <p:nvPr/>
          </p:nvSpPr>
          <p:spPr>
            <a:xfrm>
              <a:off x="640080" y="466344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07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6" name="Text 11"/>
            <p:cNvSpPr/>
            <p:nvPr/>
          </p:nvSpPr>
          <p:spPr>
            <a:xfrm>
              <a:off x="1508760" y="466344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Lab Work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7" name="Text 12"/>
            <p:cNvSpPr/>
            <p:nvPr/>
          </p:nvSpPr>
          <p:spPr>
            <a:xfrm>
              <a:off x="10332720" y="466344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41–46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8" name="Shape 5"/>
            <p:cNvSpPr/>
            <p:nvPr/>
          </p:nvSpPr>
          <p:spPr>
            <a:xfrm>
              <a:off x="640080" y="513892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9" name="Text 10"/>
            <p:cNvSpPr/>
            <p:nvPr/>
          </p:nvSpPr>
          <p:spPr>
            <a:xfrm>
              <a:off x="640080" y="521208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08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0" name="Text 11"/>
            <p:cNvSpPr/>
            <p:nvPr/>
          </p:nvSpPr>
          <p:spPr>
            <a:xfrm>
              <a:off x="1508760" y="521208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Challenges &amp; Lessons Learned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1" name="Text 12"/>
            <p:cNvSpPr/>
            <p:nvPr/>
          </p:nvSpPr>
          <p:spPr>
            <a:xfrm>
              <a:off x="10332720" y="521208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47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2" name="Shape 5"/>
            <p:cNvSpPr/>
            <p:nvPr/>
          </p:nvSpPr>
          <p:spPr>
            <a:xfrm>
              <a:off x="640080" y="5687568"/>
              <a:ext cx="10954512" cy="0"/>
            </a:xfrm>
            <a:prstGeom prst="line">
              <a:avLst/>
            </a:prstGeom>
            <a:noFill/>
            <a:ln w="12700">
              <a:solidFill>
                <a:srgbClr val="233A63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3" name="Text 10"/>
            <p:cNvSpPr/>
            <p:nvPr/>
          </p:nvSpPr>
          <p:spPr>
            <a:xfrm>
              <a:off x="640080" y="5760720"/>
              <a:ext cx="822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C2A8"/>
                  </a:solidFill>
                  <a:effectLst/>
                  <a:uLnTx/>
                  <a:uFillTx/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09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4" name="Text 11"/>
            <p:cNvSpPr/>
            <p:nvPr/>
          </p:nvSpPr>
          <p:spPr>
            <a:xfrm>
              <a:off x="1508760" y="5760720"/>
              <a:ext cx="7772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Results, Key Takeaways &amp; Conclusion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5" name="Text 12"/>
            <p:cNvSpPr/>
            <p:nvPr/>
          </p:nvSpPr>
          <p:spPr>
            <a:xfrm>
              <a:off x="10332720" y="5760720"/>
              <a:ext cx="12801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FA0C2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48–50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8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– EDGE AI</a:t>
            </a:r>
            <a:endParaRPr lang="en-US" sz="1150" b="1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</a:t>
            </a: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runs inference directly on the device that captures the data — instead of sending it to a remote server.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910080"/>
            <a:ext cx="2743200" cy="106934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9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Camera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6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raw data on-device (image, audio, motion, etc.)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84448" y="2380996"/>
            <a:ext cx="457200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9" name="Shape 7"/>
          <p:cNvSpPr/>
          <p:nvPr/>
        </p:nvSpPr>
        <p:spPr>
          <a:xfrm>
            <a:off x="4087368" y="191008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2019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24528" y="236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inference locally — no network round trip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94576" y="2380996"/>
            <a:ext cx="457200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97496" y="191008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2019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34656" y="236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result: alert, label, control signal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round-trip required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98520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AI vs. Edge AI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02920" y="407924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1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36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the device → travels the network → is processed on a remote server → response returns.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latency, ongoing bandwidth cost, data leaves your control.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0792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21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536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Sensing, inference, and action all happen on the device itself.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works offline, raw data never has to leave the device.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AI?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pushing AI to the device itself, rather than the cloud: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093976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39" y="1938528"/>
            <a:ext cx="990769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inference needs constant connectivity — round-trip latency is often measured in hundreds of milliseconds.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328416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172968"/>
            <a:ext cx="935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raw sensor or camera data to the cloud costs bandwidth and increases privacy exposure.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4562856"/>
            <a:ext cx="91440" cy="914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0740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— industrial monitoring, wearables, smart cameras, autonomous systems — need decisions made locally, in real time, on limited power.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62356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BLERP — Bandwidth  •  Latency  •  Energy  •  Reliability  •  Privacy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DEFINITION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&amp;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060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2920" y="168656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3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376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reusable pipeline: problem → data → model → optimize → convert → deploy →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</a:t>
            </a:r>
            <a:r>
              <a:rPr lang="en-US" sz="140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ESP32,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AMB82-Mini, Raspberry Pi Zero 2 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classification-style edge inference tasks (vision / sensor data)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094480"/>
            <a:ext cx="5440680" cy="160020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3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5333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production MLOps / continuous retraining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silicon or NPU-level firmware development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enhancements or focus on specific scenario training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2959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63640" y="1725168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725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1706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document every pipeline stage, from problem definition to deployment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363216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363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23449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hardware capabilities and constraints across OS-based and firmware-only boards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2930144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930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91185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optimization &amp; conversion workflow for edge-ready models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3497072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497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4787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deployment feasibility on at least two embedded targets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40640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064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40457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and evaluate real-time inference performance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FOUNDATIONS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Foundations Established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custom deployment work began, the project's foundation was researched and documented across six areas.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49120"/>
            <a:ext cx="3611880" cy="182067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013712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01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" y="2416048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 Problem Framing &amp; Model Types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" y="283667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vs. regression; supervised, unsupervised, RL, deep &amp; generative models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1849120"/>
            <a:ext cx="3611880" cy="182067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2013712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01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62272" y="2416048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Sourcing &amp; Custom Data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62272" y="2836672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 sources and a custom data collection / labeling workflow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92440" y="1849120"/>
            <a:ext cx="3611880" cy="182067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57032" y="2013712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8257032" y="201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57032" y="2416048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Training &amp; Evaluation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57032" y="2836672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and deployment constraints for edge-bound models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3810000"/>
            <a:ext cx="3611880" cy="182067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" y="3974592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974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7512" y="4376928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Research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" y="4797552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Zero 2W, ESP32-WROOM-32U, AMB82-Mini — capabilities &amp; limits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97680" y="3810000"/>
            <a:ext cx="3611880" cy="182067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62272" y="3974592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3974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62272" y="4376928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Conversion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62272" y="4797552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pruning, ONNX, TensorFlow Lite Micro, NCNN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92440" y="3810000"/>
            <a:ext cx="3611880" cy="1820672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57032" y="3974592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2" name="Text 30"/>
          <p:cNvSpPr/>
          <p:nvPr/>
        </p:nvSpPr>
        <p:spPr>
          <a:xfrm>
            <a:off x="8257032" y="3974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57032" y="4376928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Setup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57032" y="4797552"/>
            <a:ext cx="3282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and deployments on Edge Devices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ARCHITECTURE FOUNDATIONS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Pipeline for Edge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AI project follows the same general ML pipeline — with an added optimization step before deployment.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514600" cy="1422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96189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961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2336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Need &amp;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" y="2629408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problem; cloud vs. edge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4096" y="2259076"/>
            <a:ext cx="246888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691640"/>
            <a:ext cx="2514600" cy="14818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65576" y="196189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1961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65576" y="2336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65576" y="2629408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sensor / image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88736" y="2259076"/>
            <a:ext cx="246888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691640"/>
            <a:ext cx="2514600" cy="14818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196189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1961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0216" y="2336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0216" y="2629408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errors, inspect for bias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23376" y="2259076"/>
            <a:ext cx="246888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3" name="Shape 21"/>
          <p:cNvSpPr/>
          <p:nvPr/>
        </p:nvSpPr>
        <p:spPr>
          <a:xfrm>
            <a:off x="9006840" y="1691640"/>
            <a:ext cx="2514600" cy="14818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34856" y="196189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9134856" y="1961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34856" y="23368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34856" y="2629408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inputs for smaller models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94976" y="3224784"/>
            <a:ext cx="109728" cy="378968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652520"/>
            <a:ext cx="2514600" cy="128422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" y="378053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" y="3780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" y="415544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Maintenance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" y="4448048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drift, retrain over time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54096" y="4077716"/>
            <a:ext cx="246888" cy="109728"/>
          </a:xfrm>
          <a:prstGeom prst="leftArrow">
            <a:avLst/>
          </a:prstGeom>
          <a:solidFill>
            <a:srgbClr val="00C2A8"/>
          </a:solidFill>
          <a:ln/>
        </p:spPr>
      </p:sp>
      <p:sp>
        <p:nvSpPr>
          <p:cNvPr id="35" name="Shape 33"/>
          <p:cNvSpPr/>
          <p:nvPr/>
        </p:nvSpPr>
        <p:spPr>
          <a:xfrm>
            <a:off x="3337560" y="3652520"/>
            <a:ext cx="2514600" cy="1284224"/>
          </a:xfrm>
          <a:prstGeom prst="roundRect">
            <a:avLst>
              <a:gd name="adj" fmla="val 7619"/>
            </a:avLst>
          </a:prstGeom>
          <a:solidFill>
            <a:srgbClr val="EAFBF8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65576" y="378053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7" name="Text 35"/>
          <p:cNvSpPr/>
          <p:nvPr/>
        </p:nvSpPr>
        <p:spPr>
          <a:xfrm>
            <a:off x="3465576" y="3780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65576" y="415544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(Optimize + Convert)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465576" y="4548632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&amp; convert for target HW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88736" y="4077716"/>
            <a:ext cx="246888" cy="109728"/>
          </a:xfrm>
          <a:prstGeom prst="leftArrow">
            <a:avLst/>
          </a:prstGeom>
          <a:solidFill>
            <a:srgbClr val="00C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6172200" y="3652520"/>
            <a:ext cx="2514600" cy="128422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0216" y="378053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3" name="Text 41"/>
          <p:cNvSpPr/>
          <p:nvPr/>
        </p:nvSpPr>
        <p:spPr>
          <a:xfrm>
            <a:off x="6300216" y="3780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00216" y="415544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00216" y="4448048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held-out test data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723376" y="4077716"/>
            <a:ext cx="246888" cy="109728"/>
          </a:xfrm>
          <a:prstGeom prst="leftArrow">
            <a:avLst/>
          </a:prstGeom>
          <a:solidFill>
            <a:srgbClr val="00C2A8"/>
          </a:solidFill>
          <a:ln/>
        </p:spPr>
      </p:sp>
      <p:sp>
        <p:nvSpPr>
          <p:cNvPr id="47" name="Shape 45"/>
          <p:cNvSpPr/>
          <p:nvPr/>
        </p:nvSpPr>
        <p:spPr>
          <a:xfrm>
            <a:off x="9006840" y="3652520"/>
            <a:ext cx="2514600" cy="128422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34856" y="3780536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9" name="Text 47"/>
          <p:cNvSpPr/>
          <p:nvPr/>
        </p:nvSpPr>
        <p:spPr>
          <a:xfrm>
            <a:off x="9134856" y="3780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134856" y="415544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34856" y="4448048"/>
            <a:ext cx="22585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 to training data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94360" y="52440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Edge-specific step highlighted: optimization &amp; conversion is what makes a model fit on constrained hardware.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MODEL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AI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depends on the task. A model can score high on accuracy and still be the wrong fit once deployment constraints are considered.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2920" y="1691640"/>
          <a:ext cx="11201400" cy="4206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Techniques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Applications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from labelled input/output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Linear/Logistic Regression, Decision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scoring, spam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patterns in unlabelled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Clustering, Dimensionality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segmentation, anomaly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via trial, reward &amp; penalty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learning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vehicles, inventory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hierarchical representations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CNNs, RNNs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recognition, time-series,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patterns to generate new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GANs, Large Language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Text/content generation, 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DATA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Right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into a training-ready dataset — public sources or a custom capture pipeline.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Roboflow Universe, TensorFlow Datasets, HuggingFace Datasets, UCI ML Repository etc.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Collection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data with the same sensor/device you plan to deploy on, in the target environment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77640" y="2190496"/>
            <a:ext cx="411480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2" name="Shape 10"/>
          <p:cNvSpPr/>
          <p:nvPr/>
        </p:nvSpPr>
        <p:spPr>
          <a:xfrm>
            <a:off x="3977640" y="3922776"/>
            <a:ext cx="411480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2384" y="2443480"/>
            <a:ext cx="1572768" cy="1316736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6700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312724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samples with ground-truth 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191256"/>
            <a:ext cx="201168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5603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6700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Augmentation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3368" y="312724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errors/duplicates; expand variety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3191256"/>
            <a:ext cx="201168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1" name="Shape 19"/>
          <p:cNvSpPr/>
          <p:nvPr/>
        </p:nvSpPr>
        <p:spPr>
          <a:xfrm>
            <a:off x="8092440" y="25603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26700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02168" y="312724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resize, extract 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3191256"/>
            <a:ext cx="201168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9921240" y="25603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30968" y="267004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Training-Ready Dataset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30968" y="312724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 / validation / test sets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7492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collect data using the same device and sensors you plan to ultimately deploy to — a model trained on smartphone photos may not generalize to a low-power embedded camera.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a Model Is Good?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post excellent accuracy and still perform poorly in practice — evaluation has to match the task.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Metrics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2148840"/>
          <a:ext cx="4775200" cy="2331720"/>
        </p:xfrm>
        <a:graphic>
          <a:graphicData uri="http://schemas.openxmlformats.org/drawingml/2006/table">
            <a:tbl>
              <a:tblPr/>
              <a:tblGrid>
                <a:gridCol w="92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predictions ÷ total predictions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predicted positives, how many were actually correct — minimizes false positives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actual positives, how many were correctly found — minimizes false negatives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mean of precision &amp; recall — useful for imbalanced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Metrics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6309360" y="2148840"/>
          <a:ext cx="5394960" cy="16002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Absolute Error — average absolute gap between actual &amp; predicted values; same unit as target, easy to interpret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Error — averages squared differences; penalizes large errors more heavily, sensitive to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309360" y="39725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6537960" y="4109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7960" y="441147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can't capture model quality. High recall matters in healthcare (don't miss positives); high precision matters in fraud detection (don't cry wolf).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02920" y="465836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AFBF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66852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 comes first: classification metrics for discrete labels, regression metrics for continuous outputs.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for Edge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embedded hardware, task accuracy is only half the picture — efficiency metrics decide whether a model can even run.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02920" y="1691640"/>
          <a:ext cx="11201400" cy="26517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 at the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process a single input (ms / µs)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real-time responsiveness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processed per second (IPS / FPS)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continuous sensor or camera streams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Consumption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drawn during inference (W / mW)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Governs battery life and thermal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required during inference (KB / MB)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fit within the MCU / SoC's tight memory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770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 of neural-network deployment on embedded systems identifies these four as the key inference evaluation metrics for edge AI.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5" name="Text 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OPTIMIZATION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Shrinking Models to Fit the Edge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597152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06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numeric precision of weights &amp; activations — e.g. 32-bit floating point (FP32) → 8-bit integer (INT8).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469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→ roughly 4× smaller model size, faster integer math on MCU hardware, small accuracy trade-off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 (PTQ): applied after training, fast to apply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 (QAT): simulated during training, higher accuracy, more effort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62712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271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studied: pruning — removing less-important weights/nodes from the network to further shrink model size and compute cost.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PIPELINE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66116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8917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89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1716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1981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PyTorch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74536" y="2303272"/>
            <a:ext cx="109728" cy="155448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45872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58673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58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513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778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interchange format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74536" y="3100832"/>
            <a:ext cx="109728" cy="155448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325628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38429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38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3311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Micro / NCNN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576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(ESP32) or ARM-optimized (Pi / AMB82) runtime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74536" y="3918712"/>
            <a:ext cx="109728" cy="155448"/>
          </a:xfrm>
          <a:prstGeom prst="downArrow">
            <a:avLst/>
          </a:prstGeom>
          <a:solidFill>
            <a:srgbClr val="00C2A8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410464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23265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23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4159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Flashed to Device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4424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on-device inference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HARDWARE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Target Hardware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02920" y="1371600"/>
          <a:ext cx="11201400" cy="416052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Zero 2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ESP32-WROOM-32U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AMB82-Mini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SBC — runs an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— firmware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+ NPU — firmware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Quad-core ARM Cortex-A53 @ 1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Dual-core Xtensa LX6 @ 80–240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v8M @ up to 500 MHz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Accelerator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(CPU-only)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(CPU-only)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 @ 0.4 TOPS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MB LPDDR2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~520 KB SRAM, 4 MB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 RAM, 16 MB flash (+ up to 128 MB opt. DDR)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/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(Raspberry Pi 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– RTOS / bare-metal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– RTOS (Arduino / RTOS / IAR / GCC)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CSI / USB (external)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module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module JX-F37: 2MP, 1080p, 130° FOV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2.4GHz + BT 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+ BT 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Dual-band Wi-Fi + BLE 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66928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EAFBF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66928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OS-based boards trade power/simplicity for flexibility; firmware-only boards run leaner and cheaper but demand far more manual optimization.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AFBCA-2921-D5B1-076F-17F79335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523729-C57F-A2D6-F141-C40EA184F5C5}"/>
              </a:ext>
            </a:extLst>
          </p:cNvPr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HANDS-ON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9A66FF-9F96-AB45-3758-CA2F3A19F5EB}"/>
              </a:ext>
            </a:extLst>
          </p:cNvPr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Experimentation: Environment Setup &amp; First Deployments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850BBA2-8852-F034-B9F3-1A5902D04DAD}"/>
              </a:ext>
            </a:extLst>
          </p:cNvPr>
          <p:cNvSpPr/>
          <p:nvPr/>
        </p:nvSpPr>
        <p:spPr>
          <a:xfrm>
            <a:off x="518160" y="1300348"/>
            <a:ext cx="112776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9654C52-05CF-81A3-7543-62137DF67BC2}"/>
              </a:ext>
            </a:extLst>
          </p:cNvPr>
          <p:cNvSpPr/>
          <p:nvPr/>
        </p:nvSpPr>
        <p:spPr>
          <a:xfrm>
            <a:off x="86360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AMB82-Mini (+ JX-F37 Camera Module)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757BD8E-534C-A1C8-CDDC-3E30DE283980}"/>
              </a:ext>
            </a:extLst>
          </p:cNvPr>
          <p:cNvSpPr/>
          <p:nvPr/>
        </p:nvSpPr>
        <p:spPr>
          <a:xfrm>
            <a:off x="873760" y="213868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DBD4594-CA8C-036B-4E33-CB705B4AA526}"/>
              </a:ext>
            </a:extLst>
          </p:cNvPr>
          <p:cNvSpPr/>
          <p:nvPr/>
        </p:nvSpPr>
        <p:spPr>
          <a:xfrm>
            <a:off x="873760" y="2138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91D1B97-135D-7D71-068C-5FD2B26D78E4}"/>
              </a:ext>
            </a:extLst>
          </p:cNvPr>
          <p:cNvSpPr/>
          <p:nvPr/>
        </p:nvSpPr>
        <p:spPr>
          <a:xfrm>
            <a:off x="1330960" y="2111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+ Ameba SDK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AB4F110-DD00-20A4-446D-5E197C5E742D}"/>
              </a:ext>
            </a:extLst>
          </p:cNvPr>
          <p:cNvSpPr/>
          <p:nvPr/>
        </p:nvSpPr>
        <p:spPr>
          <a:xfrm>
            <a:off x="1330960" y="23947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Installed board package via Boards Manager URL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B31E3C0-8C4E-6152-FEA1-7134D2A6E3F2}"/>
              </a:ext>
            </a:extLst>
          </p:cNvPr>
          <p:cNvSpPr/>
          <p:nvPr/>
        </p:nvSpPr>
        <p:spPr>
          <a:xfrm>
            <a:off x="873760" y="300736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04E9DB7-FD76-BBB9-8843-D3416F51917C}"/>
              </a:ext>
            </a:extLst>
          </p:cNvPr>
          <p:cNvSpPr/>
          <p:nvPr/>
        </p:nvSpPr>
        <p:spPr>
          <a:xfrm>
            <a:off x="873760" y="300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B1C2C08-8AB2-6D19-AE1A-E7733EB9F335}"/>
              </a:ext>
            </a:extLst>
          </p:cNvPr>
          <p:cNvSpPr/>
          <p:nvPr/>
        </p:nvSpPr>
        <p:spPr>
          <a:xfrm>
            <a:off x="1330960" y="29799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 example sketches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84C9A71-9186-0C16-F6C1-68ED3A61B707}"/>
              </a:ext>
            </a:extLst>
          </p:cNvPr>
          <p:cNvSpPr/>
          <p:nvPr/>
        </p:nvSpPr>
        <p:spPr>
          <a:xfrm>
            <a:off x="1330960" y="32633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LED blink to validate the toolchain, then camera examples including object detection example sketch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314B52F-1B82-E99B-DC9F-CD8B638DC753}"/>
              </a:ext>
            </a:extLst>
          </p:cNvPr>
          <p:cNvSpPr/>
          <p:nvPr/>
        </p:nvSpPr>
        <p:spPr>
          <a:xfrm>
            <a:off x="873760" y="387604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F058F91-35E8-F9C5-B7B8-5363EAF15110}"/>
              </a:ext>
            </a:extLst>
          </p:cNvPr>
          <p:cNvSpPr/>
          <p:nvPr/>
        </p:nvSpPr>
        <p:spPr>
          <a:xfrm>
            <a:off x="873760" y="387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47D7EC5-C6F1-49F1-5C9D-371F5901945D}"/>
              </a:ext>
            </a:extLst>
          </p:cNvPr>
          <p:cNvSpPr/>
          <p:nvPr/>
        </p:nvSpPr>
        <p:spPr>
          <a:xfrm>
            <a:off x="1330960" y="38486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 video streaming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C46AE67-C1FE-7CD2-1F71-E7906E35F5FB}"/>
              </a:ext>
            </a:extLst>
          </p:cNvPr>
          <p:cNvSpPr/>
          <p:nvPr/>
        </p:nvSpPr>
        <p:spPr>
          <a:xfrm>
            <a:off x="1330960" y="41320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camera + Wi-Fi pipeline by streaming live video to a browser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6EA92C9-9422-0DEB-DFBD-0FAFB5E659EA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36E8DD2-F9AD-9E9E-6232-C90CFA90C15A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defRPr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B19CAF-8AF3-7180-E9BB-66D6FCA44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510" y="1508760"/>
            <a:ext cx="5640223" cy="317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17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324FD-51A9-A915-E99C-511A49DC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B41B8B-5A35-6DD3-D778-692D81BA47C3}"/>
              </a:ext>
            </a:extLst>
          </p:cNvPr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HANDS-ON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72C7C4-A8C0-67B8-6DF3-9782F4F5B262}"/>
              </a:ext>
            </a:extLst>
          </p:cNvPr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Experimentation: Environment Setup &amp; First Deployments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CD69527-BDED-1479-0BFA-3DAE5B84483C}"/>
              </a:ext>
            </a:extLst>
          </p:cNvPr>
          <p:cNvSpPr/>
          <p:nvPr/>
        </p:nvSpPr>
        <p:spPr>
          <a:xfrm>
            <a:off x="518160" y="1300348"/>
            <a:ext cx="112776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5E1BD1B-344A-07B9-A39A-D1E302532EB4}"/>
              </a:ext>
            </a:extLst>
          </p:cNvPr>
          <p:cNvSpPr/>
          <p:nvPr/>
        </p:nvSpPr>
        <p:spPr>
          <a:xfrm>
            <a:off x="86360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ESP32-WROOM-32U</a:t>
            </a:r>
            <a:endParaRPr lang="en-US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DB68C45-EA95-0FF1-CD9E-BB620993AC93}"/>
              </a:ext>
            </a:extLst>
          </p:cNvPr>
          <p:cNvSpPr/>
          <p:nvPr/>
        </p:nvSpPr>
        <p:spPr>
          <a:xfrm>
            <a:off x="873760" y="213868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574985C-3B1E-2CB4-56E2-897596F67116}"/>
              </a:ext>
            </a:extLst>
          </p:cNvPr>
          <p:cNvSpPr/>
          <p:nvPr/>
        </p:nvSpPr>
        <p:spPr>
          <a:xfrm>
            <a:off x="873760" y="2138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4EDECAE-D5AE-903B-C8DA-5E333F9BFB66}"/>
              </a:ext>
            </a:extLst>
          </p:cNvPr>
          <p:cNvSpPr/>
          <p:nvPr/>
        </p:nvSpPr>
        <p:spPr>
          <a:xfrm>
            <a:off x="1330960" y="2111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— attempted first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F753837-177C-8ED9-94D0-1761A17E5E7B}"/>
              </a:ext>
            </a:extLst>
          </p:cNvPr>
          <p:cNvSpPr/>
          <p:nvPr/>
        </p:nvSpPr>
        <p:spPr>
          <a:xfrm>
            <a:off x="1330960" y="23947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Toolchain/deployment issues; sketch would not build/run reliably on the board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8B1CC25-1FC2-7309-69C6-A9EAF3CA1E8D}"/>
              </a:ext>
            </a:extLst>
          </p:cNvPr>
          <p:cNvSpPr/>
          <p:nvPr/>
        </p:nvSpPr>
        <p:spPr>
          <a:xfrm>
            <a:off x="873760" y="300736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B64FB37-4CEB-B7AC-1D85-AB22CEB4A9D1}"/>
              </a:ext>
            </a:extLst>
          </p:cNvPr>
          <p:cNvSpPr/>
          <p:nvPr/>
        </p:nvSpPr>
        <p:spPr>
          <a:xfrm>
            <a:off x="873760" y="300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F13FCA3-64C3-816D-4B73-5B0BDBE3E618}"/>
              </a:ext>
            </a:extLst>
          </p:cNvPr>
          <p:cNvSpPr/>
          <p:nvPr/>
        </p:nvSpPr>
        <p:spPr>
          <a:xfrm>
            <a:off x="1330960" y="29799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ESP-IDF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98D6D57-6F58-9F5E-474D-DFA9892EDB86}"/>
              </a:ext>
            </a:extLst>
          </p:cNvPr>
          <p:cNvSpPr/>
          <p:nvPr/>
        </p:nvSpPr>
        <p:spPr>
          <a:xfrm>
            <a:off x="1330960" y="32633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Espressif's</a:t>
            </a: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official SDK, configured via the VS Code extension</a:t>
            </a:r>
            <a:endParaRPr lang="en-US" sz="14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33B1438-8D1A-88FC-2AF7-3A3CD01F349E}"/>
              </a:ext>
            </a:extLst>
          </p:cNvPr>
          <p:cNvSpPr/>
          <p:nvPr/>
        </p:nvSpPr>
        <p:spPr>
          <a:xfrm>
            <a:off x="873760" y="387604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8269541-DA73-CF22-0B97-9964C6EA2A9D}"/>
              </a:ext>
            </a:extLst>
          </p:cNvPr>
          <p:cNvSpPr/>
          <p:nvPr/>
        </p:nvSpPr>
        <p:spPr>
          <a:xfrm>
            <a:off x="873760" y="387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E8A76AD-F084-E4F0-B1C8-CBA8F56BBC5C}"/>
              </a:ext>
            </a:extLst>
          </p:cNvPr>
          <p:cNvSpPr/>
          <p:nvPr/>
        </p:nvSpPr>
        <p:spPr>
          <a:xfrm>
            <a:off x="1330960" y="38486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6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C1B2257-D4A9-B9DE-3A22-39DEB6C88777}"/>
              </a:ext>
            </a:extLst>
          </p:cNvPr>
          <p:cNvSpPr/>
          <p:nvPr/>
        </p:nvSpPr>
        <p:spPr>
          <a:xfrm>
            <a:off x="1330960" y="413207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flashed AI inference code; verified live output on the serial monitor</a:t>
            </a:r>
            <a:endParaRPr lang="en-US" sz="14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2AE8F46-B63F-5EDF-E8DB-5FF05A16B1F4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54E5306-175D-8847-598E-D89D61EBA0E5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657C9A4-BC09-81D2-6D6D-D6AC6FA113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6228" y="1467881"/>
            <a:ext cx="5640223" cy="316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69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Behind the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two-part architecture is the framework the case study (next) puts into practice.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4904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2221992"/>
            <a:ext cx="1380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97964" y="2510028"/>
            <a:ext cx="11887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0" name="Shape 8"/>
          <p:cNvSpPr/>
          <p:nvPr/>
        </p:nvSpPr>
        <p:spPr>
          <a:xfrm>
            <a:off x="2121408" y="2148840"/>
            <a:ext cx="14904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2221992"/>
            <a:ext cx="1380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6452" y="2510028"/>
            <a:ext cx="11887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3739896" y="2148840"/>
            <a:ext cx="14904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221992"/>
            <a:ext cx="1380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34940" y="2510028"/>
            <a:ext cx="11887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6" name="Shape 14"/>
          <p:cNvSpPr/>
          <p:nvPr/>
        </p:nvSpPr>
        <p:spPr>
          <a:xfrm>
            <a:off x="5358384" y="2148840"/>
            <a:ext cx="14904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2221992"/>
            <a:ext cx="1380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3428" y="2510028"/>
            <a:ext cx="11887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6976872" y="2148840"/>
            <a:ext cx="14904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1736" y="2221992"/>
            <a:ext cx="1380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71916" y="2510028"/>
            <a:ext cx="11887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5360" y="2148840"/>
            <a:ext cx="14904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2221992"/>
            <a:ext cx="1380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90404" y="2510028"/>
            <a:ext cx="11887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13848" y="2148840"/>
            <a:ext cx="1490472" cy="86868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68712" y="2221992"/>
            <a:ext cx="13807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34290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429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LOOP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3886200"/>
            <a:ext cx="207934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" y="3959352"/>
            <a:ext cx="19696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Camera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00554" y="4247388"/>
            <a:ext cx="16459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2" name="Shape 30"/>
          <p:cNvSpPr/>
          <p:nvPr/>
        </p:nvSpPr>
        <p:spPr>
          <a:xfrm>
            <a:off x="2783434" y="3886200"/>
            <a:ext cx="207934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8298" y="3959352"/>
            <a:ext cx="19696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81067" y="4247388"/>
            <a:ext cx="16459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5" name="Shape 33"/>
          <p:cNvSpPr/>
          <p:nvPr/>
        </p:nvSpPr>
        <p:spPr>
          <a:xfrm>
            <a:off x="5063947" y="3886200"/>
            <a:ext cx="207934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18811" y="3959352"/>
            <a:ext cx="19696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161581" y="4247388"/>
            <a:ext cx="16459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8" name="Shape 36"/>
          <p:cNvSpPr/>
          <p:nvPr/>
        </p:nvSpPr>
        <p:spPr>
          <a:xfrm>
            <a:off x="7344461" y="3886200"/>
            <a:ext cx="207934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9325" y="3959352"/>
            <a:ext cx="19696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442094" y="4247388"/>
            <a:ext cx="16459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9624974" y="3886200"/>
            <a:ext cx="2079346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79838" y="3959352"/>
            <a:ext cx="196961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2920" y="5074920"/>
            <a:ext cx="11201400" cy="777240"/>
          </a:xfrm>
          <a:prstGeom prst="roundRect">
            <a:avLst>
              <a:gd name="adj" fmla="val 10588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07492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 that follows walks this exact architecture end-to-end: a real problem, a real dataset, a trained model, optimization, conversion, deployment, and a live run-time loop — all on the target device.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 — Build-Time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0" y="36576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/ OFFLINE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once, before anything is flashed to a device.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459121" cy="192024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8745" y="2313432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1058745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770632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3383280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or regression?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71185" y="3054096"/>
            <a:ext cx="14630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2126633" y="2148840"/>
            <a:ext cx="1459121" cy="192024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2458" y="2313432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2682458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9785" y="2770632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9785" y="3383280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Gather, clean, prepare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4898" y="3054096"/>
            <a:ext cx="14630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3750346" y="2148840"/>
            <a:ext cx="1459121" cy="192024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06171" y="2313432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4306171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23498" y="2770632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23498" y="3383280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model on training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8611" y="3054096"/>
            <a:ext cx="14630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5374059" y="2148840"/>
            <a:ext cx="1459121" cy="192024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29884" y="2313432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5929884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7211" y="2770632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7211" y="3383280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MAE/MSE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42325" y="3054096"/>
            <a:ext cx="14630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1" name="Shape 29"/>
          <p:cNvSpPr/>
          <p:nvPr/>
        </p:nvSpPr>
        <p:spPr>
          <a:xfrm>
            <a:off x="6997773" y="2148840"/>
            <a:ext cx="1459121" cy="192024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53597" y="2313432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3" name="Text 31"/>
          <p:cNvSpPr/>
          <p:nvPr/>
        </p:nvSpPr>
        <p:spPr>
          <a:xfrm>
            <a:off x="7553597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70925" y="2770632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70925" y="3383280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Quantize, prune for target HW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66038" y="3054096"/>
            <a:ext cx="14630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7" name="Shape 35"/>
          <p:cNvSpPr/>
          <p:nvPr/>
        </p:nvSpPr>
        <p:spPr>
          <a:xfrm>
            <a:off x="8621486" y="2148840"/>
            <a:ext cx="1459121" cy="192024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177310" y="2313432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9" name="Text 37"/>
          <p:cNvSpPr/>
          <p:nvPr/>
        </p:nvSpPr>
        <p:spPr>
          <a:xfrm>
            <a:off x="917731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94638" y="2770632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94638" y="3383280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→ TFLite Micro / NCNN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089751" y="3054096"/>
            <a:ext cx="14630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45199" y="2148840"/>
            <a:ext cx="1459121" cy="1920240"/>
          </a:xfrm>
          <a:prstGeom prst="roundRect">
            <a:avLst>
              <a:gd name="adj" fmla="val 501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801023" y="2313432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5" name="Text 43"/>
          <p:cNvSpPr/>
          <p:nvPr/>
        </p:nvSpPr>
        <p:spPr>
          <a:xfrm>
            <a:off x="10801023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318351" y="2770632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318351" y="3383280"/>
            <a:ext cx="131281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binary to embedded target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" y="44450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43484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reusable architecture at the core of the internship project — designed to generalize across different target boards and tasks.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 — Run-Time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75320" y="365760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365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 / ON-DEVICE 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continuously, in real time, once the model is on the device.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12164" y="2523744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131216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980944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Camera 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336499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raw data on-device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87168" y="3031236"/>
            <a:ext cx="30632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2811780" y="23774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21024" y="2523744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362102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4932" y="2980944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4932" y="336499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normalize, extract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96028" y="3031236"/>
            <a:ext cx="30632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23774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9884" y="2523744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592988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93792" y="2980944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93792" y="336499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optimized model on-device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04888" y="3031236"/>
            <a:ext cx="30632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29500" y="23774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8744" y="2523744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823874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02652" y="2980944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02652" y="336499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raw model 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13748" y="3031236"/>
            <a:ext cx="306324" cy="109728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31" name="Shape 29"/>
          <p:cNvSpPr/>
          <p:nvPr/>
        </p:nvSpPr>
        <p:spPr>
          <a:xfrm>
            <a:off x="9738360" y="23774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7604" y="2523744"/>
            <a:ext cx="347472" cy="34747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760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11512" y="2980944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Action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811512" y="336499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Alert, display, or actuate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1463040" y="3886200"/>
            <a:ext cx="8778240" cy="457200"/>
          </a:xfrm>
          <a:prstGeom prst="bentConnector3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02920" y="43891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continuously in real time — this is the cycle the pipeline must sustain under hardware constraints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AMB82-MINI 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Drone Detection on AMB82-Mini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single-class detector — trained from scratch, converted, and verified live — validating the proposed pipeline end-to-end.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202293" y="1069388"/>
            <a:ext cx="2489454" cy="1563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6" name="Image 0" descr="/home/claude/w2/img/amb82_hw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725" y="1096820"/>
            <a:ext cx="2434590" cy="1508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89720" y="2623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AMB82-Mini + JX-F37 camera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908563"/>
              </p:ext>
            </p:extLst>
          </p:nvPr>
        </p:nvGraphicFramePr>
        <p:xfrm>
          <a:off x="502920" y="2834640"/>
          <a:ext cx="11201400" cy="288036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Done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Single-class object detection (“drone”), real-time, on-device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Kaggle drone-detection dataset, pre-split train/valid, YOLO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YOLOv7-tiny (PyTorch), trained on Kaggle (GPU)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test.py / detect.py against the validation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&amp; 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Reparameterization + AmebaPro2 online model conversion to .nb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to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 + Ameba Pro2 SDK, ObjectDetectionLoop 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Run-Time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inference → RTSP stream → verified live in VLC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DATA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Data: Kaggle YOLO Drone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pre-labeled dataset in YOLO format — no custom collection was needed for this first pass.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991952"/>
              </p:ext>
            </p:extLst>
          </p:nvPr>
        </p:nvGraphicFramePr>
        <p:xfrm>
          <a:off x="502920" y="1691640"/>
          <a:ext cx="630936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— “YOLO Drone Detection Dataset” (muki2003)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(drone)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— images/ + labels/, normalized .txt per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Pre-split train / 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× 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72000"/>
            <a:ext cx="6309360" cy="1280160"/>
          </a:xfrm>
          <a:prstGeom prst="roundRect">
            <a:avLst>
              <a:gd name="adj" fmla="val 6429"/>
            </a:avLst>
          </a:prstGeom>
          <a:solidFill>
            <a:srgbClr val="EAFBF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81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public dataset first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731520" y="49834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ready-made, pre-labeled dataset let the full pipeline — training through live deployment — be validated quickly, before investing time in custom data collection.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1691640"/>
            <a:ext cx="46177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1828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LABEL FORMAT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0" y="2194560"/>
            <a:ext cx="4160520" cy="1965960"/>
          </a:xfrm>
          <a:prstGeom prst="roundRect">
            <a:avLst>
              <a:gd name="adj" fmla="val 2791"/>
            </a:avLst>
          </a:prstGeom>
          <a:solidFill>
            <a:srgbClr val="1B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0" y="2377440"/>
            <a:ext cx="3794760" cy="1600200"/>
          </a:xfrm>
          <a:prstGeom prst="rect">
            <a:avLst/>
          </a:prstGeom>
          <a:solidFill>
            <a:srgbClr val="233A63"/>
          </a:solidFill>
          <a:ln/>
        </p:spPr>
      </p:sp>
      <p:sp>
        <p:nvSpPr>
          <p:cNvPr id="13" name="Shape 10"/>
          <p:cNvSpPr/>
          <p:nvPr/>
        </p:nvSpPr>
        <p:spPr>
          <a:xfrm>
            <a:off x="8595360" y="2743200"/>
            <a:ext cx="1554480" cy="914400"/>
          </a:xfrm>
          <a:prstGeom prst="rect">
            <a:avLst/>
          </a:prstGeom>
          <a:ln w="25400">
            <a:solidFill>
              <a:srgbClr val="00C2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0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0" y="43434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x_center  y_center  width  height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0      0.482        0.531        0.221   0.187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0" y="50292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normalized .txt label per image — class index plus a center-point bounding box.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TRAINING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Environment &amp;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DEEE3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GPU-less Windows machine failed on reparameterization due to a PyTorch dependency conflict. Kaggle's free GPU notebooks worked without issue — training (and later reparameterization) needs a GPU-backed PyTorch environment.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TRAINING APPROACHES COMPARED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196980"/>
              </p:ext>
            </p:extLst>
          </p:nvPr>
        </p:nvGraphicFramePr>
        <p:xfrm>
          <a:off x="502920" y="2633748"/>
          <a:ext cx="11201400" cy="1371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100 Epochs, From Scratch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YOLOv7-tiny trained with no pretrained weights, full 100 epochs on Kaggle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comparison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50 Epochs, Fine-Tuned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 from official YOLOv7-tiny COCO-pretrained weights, fine-tuned for 50 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49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for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50292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NOTES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4636008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8"/>
          <p:cNvSpPr/>
          <p:nvPr/>
        </p:nvSpPr>
        <p:spPr>
          <a:xfrm>
            <a:off x="761076" y="459989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count changed from 80 (default COCO) to 1 (“drone”) in the training config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0491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716742" y="50159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1-epoch sanity check confirmed the pipeline end-to-end before committing to full training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VALIDATION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Detection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checks were used before moving to deployment: numbers from test.py, and a visual sanity check from detect.py.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— test.py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the held-out validation split to compute precision, recall, and mAP.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01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— detect.py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across the full validation image set to visually inspect bounding boxes, not just metrics.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44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DETECTIONS ON VALIDATION IMAGES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" y="3392996"/>
            <a:ext cx="3666744" cy="231228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3" name="Image 0" descr="/home/claude/w2/img/det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20428"/>
            <a:ext cx="3611880" cy="225742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70248" y="3506071"/>
            <a:ext cx="3666744" cy="208613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5" name="Image 1" descr="/home/claude/w2/img/det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533503"/>
            <a:ext cx="3611880" cy="203127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65008" y="3317748"/>
            <a:ext cx="3666744" cy="2462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7" name="Image 2" descr="/home/claude/w2/img/det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345180"/>
            <a:ext cx="3611880" cy="2407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" y="59436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 score drawn by detect.py on unseen validation images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OPTIMIZATION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Trained Weights to Board-Ready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AmebaPro2 Online Conversion Tool to convert trained model</a:t>
            </a:r>
            <a:r>
              <a:rPr lang="en-GB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weights to board-native format</a:t>
            </a: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09680" y="1783080"/>
            <a:ext cx="20939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01220" y="192024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24012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82832" y="233172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Weights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82832" y="27889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YOLOv7-tiny weights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2800" y="2418588"/>
            <a:ext cx="16459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3786536" y="1783080"/>
            <a:ext cx="20939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8076" y="192024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4678076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59688" y="233172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Reparameterization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59688" y="27889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step for </a:t>
            </a:r>
            <a:r>
              <a:rPr lang="en-US" sz="11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trained model conversion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89656" y="2418588"/>
            <a:ext cx="16459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3" name="Shape 21"/>
          <p:cNvSpPr/>
          <p:nvPr/>
        </p:nvSpPr>
        <p:spPr>
          <a:xfrm>
            <a:off x="6068116" y="1783080"/>
            <a:ext cx="2093976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59656" y="192024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3"/>
          <p:cNvSpPr/>
          <p:nvPr/>
        </p:nvSpPr>
        <p:spPr>
          <a:xfrm>
            <a:off x="6959656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41268" y="233172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AmebaPro2 Online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Tool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41268" y="27889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PyTorch weights to board-native format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71236" y="2418588"/>
            <a:ext cx="164592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9" name="Shape 27"/>
          <p:cNvSpPr/>
          <p:nvPr/>
        </p:nvSpPr>
        <p:spPr>
          <a:xfrm>
            <a:off x="8344972" y="1783080"/>
            <a:ext cx="2093976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6512" y="1920240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92365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8124" y="233172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.nb Model File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8124" y="2788920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flash to the AMB82-Mini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42900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1520" y="3538728"/>
            <a:ext cx="8504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Other Supported Frameworks &amp; Models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3785984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YOLOv7-Tiny, Realtek's conversion tool natively supports Darknet (YOLOv3/v4/v7), ONNX (SCRFD /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and 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/TensorFlow (</a:t>
            </a:r>
            <a:r>
              <a:rPr lang="en-US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CNNs)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5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CONVERSION OPTIONS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2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9560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tool (used here)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5800" y="523036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reparameterized model to Realtek's AmebaPro2 web converter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4846320"/>
            <a:ext cx="5532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9560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tool (alternative)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0" y="523036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conversion, documented by Realtek, for cases where uploading isn't desired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DEPLOYMENT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Flashing the Custom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.nb file and an adapted example sketch onto the board.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67335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.nb model 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98424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directly inside the ObjectDetectionLoop example folder, or in a separate sketch folder alongside it — both placements work; no SD card needed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6207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84378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example sketch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31546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sketch at the custom .nb file, and reduce the class list from the stock 80-class COCO set down to the single “drone”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3250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401421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board, port &amp; upload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4325112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Board: AMB82-Mini, Tools → Port: its COM port, then Upload and wait for compile + flash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34924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EAFBF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349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excluding the Arduino15 SDK folder from Windows Defender avoided slow/unreliable compiles on this large SDK tree.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47688" y="1819154"/>
            <a:ext cx="5084064" cy="29910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0" name="Image 0" descr="/home/claude/w2/img/board_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46586"/>
            <a:ext cx="5029200" cy="29362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75120" y="5029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— board/port selection with the adapted ObjectDetectionLoopDrone sketch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18B7244-A42F-0747-A9C9-EA365BC34364}"/>
                  </a:ext>
                </a:extLst>
              </p14:cNvPr>
              <p14:cNvContentPartPr/>
              <p14:nvPr/>
            </p14:nvContentPartPr>
            <p14:xfrm>
              <a:off x="9328509" y="3879153"/>
              <a:ext cx="1015200" cy="28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18B7244-A42F-0747-A9C9-EA365BC343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22389" y="3873033"/>
                <a:ext cx="1027440" cy="4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held-out validation split after training.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 at IoU 0.5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confidence threshold 0.551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459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confidence threshold 0.918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1645920"/>
            <a:ext cx="26974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0" y="2240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0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confidence thresholds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6355080" cy="2578608"/>
          </a:xfrm>
          <a:prstGeom prst="roundRect">
            <a:avLst>
              <a:gd name="adj" fmla="val 3191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6499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numbers mean in practice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703320"/>
            <a:ext cx="5897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was limited by dataset size — occasional false positives/negatives that additional training data would reduce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playback was functional but slightly uneven — not perfectly smooth, though acceptable for tracking use cases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3200400"/>
            <a:ext cx="4617720" cy="2578608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25" name="Image 0" descr="/home/claude/w2/img/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352800"/>
            <a:ext cx="2834640" cy="1889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149840" y="329184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Curve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0.771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5925312"/>
            <a:ext cx="11201400" cy="530352"/>
          </a:xfrm>
          <a:prstGeom prst="roundRect">
            <a:avLst>
              <a:gd name="adj" fmla="val 12069"/>
            </a:avLst>
          </a:prstGeom>
          <a:solidFill>
            <a:srgbClr val="1B2A4A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9253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real, custom-trained model — not a bundled example — correctly detecting a single object class it was never explicitly shown during the AMB82-Mini's factory setup.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LIVE DEMO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Work: Live RTSP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5488" y="1818343"/>
            <a:ext cx="7004304" cy="363279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5" name="Image 0" descr="/home/claude/w2/img/live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5775"/>
            <a:ext cx="6949440" cy="3577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081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drones on the bench, both detected live — RTSP stream viewed in VLC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VIEWED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655616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65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92440" y="160989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resets and joins Wi-Fi — watched live on the Serial Monitor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2313984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231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226826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prints the board's IP address and RTSP port (default 554)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297235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0" y="297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92440" y="29266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 → Media → Open Network Stream, on the same network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80960" y="3630720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0" y="3630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92440" y="3585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rtsp://&lt;board-ip&gt;:&lt;port&gt;/ and press Play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80960" y="4289088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0" y="4289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92440" y="42433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appears with a bounding box + label around any drone in frame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80960" y="5029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0" y="5120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 MONITOR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863840" y="5349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3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Total objects detected: 1</a:t>
            </a:r>
            <a:endParaRPr lang="en-US" sz="83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30" dirty="0">
                <a:solidFill>
                  <a:srgbClr val="9F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RTSP URL: rtsp://192.168.137.59:554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8056" y="284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RASPBERRY PI ZERO 2 W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Drone Detection on the Raspberry Pi Zero 2 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the same trained YOLOv7-tiny weights used in the AMB82-Mini case study onto a Raspberry Pi Zero 2 W.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NCNN — an open-source, CPU-oriented inference framework — instead of a dedicated NPU toolchain.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reproduce the full edge pipeline and benchmark CPU-only performance.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4050792"/>
            <a:ext cx="5522976" cy="0"/>
          </a:xfrm>
          <a:prstGeom prst="line">
            <a:avLst/>
          </a:prstGeom>
          <a:noFill/>
          <a:ln w="25400">
            <a:solidFill>
              <a:srgbClr val="D7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840480"/>
            <a:ext cx="420624" cy="42062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-45720" y="43525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83664" y="3840480"/>
            <a:ext cx="420624" cy="42062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5024" y="43525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4408" y="3840480"/>
            <a:ext cx="420624" cy="42062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15768" y="43525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NCNN Inference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45152" y="3840480"/>
            <a:ext cx="420624" cy="42062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96512" y="43525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25896" y="3840480"/>
            <a:ext cx="420624" cy="420624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5896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77256" y="43525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Stream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1417320"/>
            <a:ext cx="4828032" cy="4709160"/>
          </a:xfrm>
          <a:prstGeom prst="roundRect">
            <a:avLst>
              <a:gd name="adj" fmla="val 1553"/>
            </a:avLst>
          </a:prstGeom>
          <a:solidFill>
            <a:srgbClr val="F4F6FA"/>
          </a:solidFill>
          <a:ln w="13970">
            <a:solidFill>
              <a:srgbClr val="8C9AB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858000" y="3314700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C9AB0"/>
                </a:solidFill>
              </a:rPr>
              <a:t>🖼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3790188"/>
            <a:ext cx="44622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placeholder: Raspberry Pi Zero 2 W + USB camera setup photo</a:t>
            </a:r>
            <a:endParaRPr lang="en-US" sz="1050" dirty="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5A4153F-958A-49FE-6CDA-C3A1C2D15F42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1E1FB1E3-64DD-568C-DADE-04A19ADF64D6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D6A8583-71DD-FA13-772A-7B2D49272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746" y="14173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Software Used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615878"/>
              </p:ext>
            </p:extLst>
          </p:nvPr>
        </p:nvGraphicFramePr>
        <p:xfrm>
          <a:off x="502920" y="1417320"/>
          <a:ext cx="11155680" cy="4206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Zero 2 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22.04.5 LTS (Jammy), aarch64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/ 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4-core CPU; ~414 MB usable RAM; 0 B swap (default)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(attempted → used)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Camera Module 2 / IMX219 (CSI)  →  USB webcam (UVC/V4L2)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runtime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NCNN — built from source, Python bindings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YOLOv7-tiny, single class ("drone"), same weights as AMB82-Mini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3.10, OpenCV, NumPy, Flask (MJPEG HTTP stream)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23">
            <a:extLst>
              <a:ext uri="{FF2B5EF4-FFF2-40B4-BE49-F238E27FC236}">
                <a16:creationId xmlns:a16="http://schemas.microsoft.com/office/drawing/2014/main" id="{7E675206-5751-BD39-92EF-78AFEA79469B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FF407681-B57A-BBE5-1417-46472452A7F2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6199FE-6901-40A3-C761-8C83DAFB7A88}"/>
              </a:ext>
            </a:extLst>
          </p:cNvPr>
          <p:cNvSpPr txBox="1"/>
          <p:nvPr/>
        </p:nvSpPr>
        <p:spPr>
          <a:xfrm>
            <a:off x="457200" y="325056"/>
            <a:ext cx="60960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STACK</a:t>
            </a:r>
            <a:endParaRPr lang="en-US" sz="1150" dirty="0">
              <a:solidFill>
                <a:srgbClr val="049688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Conversion Pipeline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8214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best.pt checkpoint as the AMB82-Mini case study — reused, not retrained.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PyTorch → ONNX (YOLOv7 tooling), then converted ONNX → NCNN (PNNX).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best.ncnn.param (graph) + best.ncnn.bin (weights) — both required at runtime.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49400" y="3855720"/>
            <a:ext cx="9301480" cy="0"/>
          </a:xfrm>
          <a:prstGeom prst="line">
            <a:avLst/>
          </a:prstGeom>
          <a:noFill/>
          <a:ln w="25400">
            <a:solidFill>
              <a:srgbClr val="D7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0800" y="3627120"/>
            <a:ext cx="457200" cy="45720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0800" y="3627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9140" y="4175760"/>
            <a:ext cx="1661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9140" y="4450080"/>
            <a:ext cx="1661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3627120"/>
            <a:ext cx="457200" cy="45720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627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72740" y="4175760"/>
            <a:ext cx="1661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best.onnx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72740" y="4450080"/>
            <a:ext cx="1661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7760" y="3627120"/>
            <a:ext cx="457200" cy="457200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7760" y="3627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05780" y="4175760"/>
            <a:ext cx="1661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PNNX/NCNN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05780" y="4450080"/>
            <a:ext cx="1661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03360" y="3627120"/>
            <a:ext cx="457200" cy="457200"/>
          </a:xfrm>
          <a:prstGeom prst="ellipse">
            <a:avLst/>
          </a:prstGeom>
          <a:solidFill>
            <a:srgbClr val="00C2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03360" y="3627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1380" y="4175760"/>
            <a:ext cx="1661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best.ncnn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1380" y="4450080"/>
            <a:ext cx="1661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.param + .bin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72740" y="49499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weights as AMB82-Mini — only the export target changes.</a:t>
            </a:r>
            <a:endParaRPr lang="en-US" sz="14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2A3FE942-BA83-CCE0-01EE-94595E22DD78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F3445291-8C6E-EB2D-5D48-7B46213767DB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3F6C07-86E9-8135-A65F-6DA0FF6026C2}"/>
              </a:ext>
            </a:extLst>
          </p:cNvPr>
          <p:cNvSpPr txBox="1"/>
          <p:nvPr/>
        </p:nvSpPr>
        <p:spPr>
          <a:xfrm>
            <a:off x="457200" y="325056"/>
            <a:ext cx="60960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MODEL CONVERSION</a:t>
            </a:r>
            <a:endParaRPr lang="en-US" sz="1150" dirty="0">
              <a:solidFill>
                <a:srgbClr val="049688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7896" y="274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CAMERA CHALLENGE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Engineering Challenges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10048" cy="4709160"/>
          </a:xfrm>
          <a:prstGeom prst="roundRect">
            <a:avLst>
              <a:gd name="adj" fmla="val 1359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00200"/>
            <a:ext cx="500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CAMERA: CSI → USB WEBCAM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072640"/>
            <a:ext cx="50077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CSI/IMX219 captured raw Bayer frames fine, but Ubuntu 22.04's outdated libcamera stack couldn't decode them to RGB/YUV.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libcamera from source hit further blockers — abandoned as too costly.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a USB webcam: MJPEG/YUYV works natively with cv2.VideoCapture(..., CAP_V4L2).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8728" y="1417320"/>
            <a:ext cx="5410048" cy="4709160"/>
          </a:xfrm>
          <a:prstGeom prst="roundRect">
            <a:avLst>
              <a:gd name="adj" fmla="val 1359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/>
          <p:nvPr/>
        </p:nvSpPr>
        <p:spPr>
          <a:xfrm>
            <a:off x="6479896" y="1600200"/>
            <a:ext cx="500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NCNN FROM SOURCE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9896" y="2072640"/>
            <a:ext cx="500771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prebuilt NCNN package existed for this target — compiled from source (NCNN_PYTHON=ON, NCNN_VULKAN=OFF).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~414 MB RAM, 0 swap: added a 2GB swap file, built single-threaded (make -j1) to avoid OOM.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.so wasn't auto-importable — PYTHONPATH set explicitly and persisted in ~/.bashrc.</a:t>
            </a:r>
            <a:endParaRPr lang="en-US" sz="1400" dirty="0"/>
          </a:p>
        </p:txBody>
      </p:sp>
      <p:sp>
        <p:nvSpPr>
          <p:cNvPr id="14" name="Text 23">
            <a:extLst>
              <a:ext uri="{FF2B5EF4-FFF2-40B4-BE49-F238E27FC236}">
                <a16:creationId xmlns:a16="http://schemas.microsoft.com/office/drawing/2014/main" id="{69745363-C9FA-1B75-BF45-836B5D4848F8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6" name="Text 24">
            <a:extLst>
              <a:ext uri="{FF2B5EF4-FFF2-40B4-BE49-F238E27FC236}">
                <a16:creationId xmlns:a16="http://schemas.microsoft.com/office/drawing/2014/main" id="{557CE67B-2805-3C53-E61F-15C5AF47BBB6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0009" y="274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DETECTION ARCHITECTURE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Application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22376" y="1773936"/>
            <a:ext cx="10746943" cy="0"/>
          </a:xfrm>
          <a:prstGeom prst="line">
            <a:avLst/>
          </a:prstGeom>
          <a:noFill/>
          <a:ln w="25400">
            <a:solidFill>
              <a:srgbClr val="D7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438912" cy="43891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-420898" y="2084832"/>
            <a:ext cx="228654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-420898" y="2359152"/>
            <a:ext cx="228654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2309" y="1554480"/>
            <a:ext cx="438912" cy="43891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2309" y="1554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28490" y="2084832"/>
            <a:ext cx="228654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28490" y="2359152"/>
            <a:ext cx="228654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320×320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1697" y="1554480"/>
            <a:ext cx="438912" cy="43891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1697" y="1554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77879" y="2084832"/>
            <a:ext cx="228654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NCNN Inference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77879" y="2359152"/>
            <a:ext cx="228654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in0 → out0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51086" y="1554480"/>
            <a:ext cx="438912" cy="43891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1086" y="1554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27268" y="2084832"/>
            <a:ext cx="228654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+ Decode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27268" y="2359152"/>
            <a:ext cx="228654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6300×6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00475" y="1554480"/>
            <a:ext cx="438912" cy="43891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00475" y="1554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76656" y="2084832"/>
            <a:ext cx="228654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+ FPS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656" y="2359152"/>
            <a:ext cx="228654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249863" y="1554480"/>
            <a:ext cx="438912" cy="43891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9863" y="1554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26045" y="2084832"/>
            <a:ext cx="228654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MJPEG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26045" y="2359152"/>
            <a:ext cx="228654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3200400"/>
            <a:ext cx="3576218" cy="2651760"/>
          </a:xfrm>
          <a:prstGeom prst="roundRect">
            <a:avLst>
              <a:gd name="adj" fmla="val 2414"/>
            </a:avLst>
          </a:prstGeom>
          <a:solidFill>
            <a:schemeClr val="bg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364992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I/O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" y="3730752"/>
            <a:ext cx="32104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320×320 input (in0) → 6300×6 output (out0); 3 heads: 40×40, 20×20, 10×10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307738" y="3200400"/>
            <a:ext cx="3576218" cy="2651760"/>
          </a:xfrm>
          <a:prstGeom prst="roundRect">
            <a:avLst>
              <a:gd name="adj" fmla="val 2414"/>
            </a:avLst>
          </a:prstGeom>
          <a:solidFill>
            <a:schemeClr val="bg1"/>
          </a:solidFill>
          <a:ln/>
        </p:spPr>
      </p:sp>
      <p:sp>
        <p:nvSpPr>
          <p:cNvPr id="36" name="Text 34"/>
          <p:cNvSpPr/>
          <p:nvPr/>
        </p:nvSpPr>
        <p:spPr>
          <a:xfrm>
            <a:off x="4490618" y="3364992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Postprocessing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90618" y="3730752"/>
            <a:ext cx="32104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 → box decode → undo letterbox → cv2.dnn.NMSBoxes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12557" y="3200400"/>
            <a:ext cx="3576218" cy="2651760"/>
          </a:xfrm>
          <a:prstGeom prst="roundRect">
            <a:avLst>
              <a:gd name="adj" fmla="val 2414"/>
            </a:avLst>
          </a:prstGeom>
          <a:solidFill>
            <a:schemeClr val="bg1"/>
          </a:solidFill>
          <a:ln/>
        </p:spPr>
      </p:sp>
      <p:sp>
        <p:nvSpPr>
          <p:cNvPr id="39" name="Text 37"/>
          <p:cNvSpPr/>
          <p:nvPr/>
        </p:nvSpPr>
        <p:spPr>
          <a:xfrm>
            <a:off x="8295437" y="3364992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95437" y="3730752"/>
            <a:ext cx="32104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+ inference on a daemon thread, decoupled from the Flask server thread</a:t>
            </a:r>
            <a:endParaRPr lang="en-US" sz="1400" dirty="0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FC37E9BB-3CCB-F5E8-70FD-F6054CFB2F9A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00878524-57F2-2D14-41BD-8F8CE590A493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6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RESULTS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5897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Detection Results</a:t>
            </a:r>
            <a:endParaRPr lang="en-US" sz="2800" dirty="0"/>
          </a:p>
        </p:txBody>
      </p:sp>
      <p:pic>
        <p:nvPicPr>
          <p:cNvPr id="7" name="Image 0" descr="/home/claude/stream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4663440" cy="444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9142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MJPEG stream — three drones correctly detected (confidences 0.38, 0.54, 0.56).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66560" y="1417320"/>
            <a:ext cx="1691640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1.7–1.8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39712" y="2221992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(end-to-end)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49640" y="1417320"/>
            <a:ext cx="1691640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49640" y="1508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500ms+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622792" y="2221992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/ frame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332720" y="1417320"/>
            <a:ext cx="1399032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332720" y="1508760"/>
            <a:ext cx="1399032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405872" y="2221992"/>
            <a:ext cx="12527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detected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66560" y="2788920"/>
            <a:ext cx="4965192" cy="3017520"/>
          </a:xfrm>
          <a:prstGeom prst="roundRect">
            <a:avLst>
              <a:gd name="adj" fmla="val 2121"/>
            </a:avLst>
          </a:prstGeom>
          <a:solidFill>
            <a:schemeClr val="bg1"/>
          </a:solidFill>
          <a:ln/>
        </p:spPr>
      </p:sp>
      <p:sp>
        <p:nvSpPr>
          <p:cNvPr id="21" name="Text 18"/>
          <p:cNvSpPr/>
          <p:nvPr/>
        </p:nvSpPr>
        <p:spPr>
          <a:xfrm>
            <a:off x="6931152" y="3087624"/>
            <a:ext cx="4636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accuracy: good at close range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31152" y="3636264"/>
            <a:ext cx="46360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localised and classified drones at reasonable confidence (0.38–0.56). </a:t>
            </a:r>
          </a:p>
          <a:p>
            <a:pPr marL="0" indent="0">
              <a:buNone/>
            </a:pPr>
            <a:endParaRPr lang="en-US" sz="1400" dirty="0">
              <a:solidFill>
                <a:srgbClr val="5B6B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verified end-to-end: camera → NCNN inference → NMS → live MJPEG stream. </a:t>
            </a:r>
          </a:p>
          <a:p>
            <a:pPr marL="0" indent="0">
              <a:buNone/>
            </a:pPr>
            <a:endParaRPr lang="en-US" sz="1400" dirty="0">
              <a:solidFill>
                <a:srgbClr val="5B6B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not accuracy, is the current bottleneck.</a:t>
            </a:r>
            <a:endParaRPr lang="en-US" sz="14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F68F6A36-B2FB-090D-5B87-3345B3D109D1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391E552-BD51-8F9F-6BE7-A1F4415CC05C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50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PERFORMANCE OPTIMIZATTION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Optimization Roadmap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02968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Cortex-A53, no NPU/GPU path exercised.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NPU-tuned for AMB82-Mini, reused unmodified.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04886"/>
              </p:ext>
            </p:extLst>
          </p:nvPr>
        </p:nvGraphicFramePr>
        <p:xfrm>
          <a:off x="502920" y="3429000"/>
          <a:ext cx="5486400" cy="24566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camera capture resolution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Cuts preprocessing (resize/</a:t>
                      </a:r>
                      <a:r>
                        <a:rPr lang="en-GB" sz="1400" dirty="0" err="1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r>
                        <a:rPr lang="en-GB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-convert) cost per frame; minor but free win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input (256²/192²)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~Quadratic compute reduction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 model (YOLOv5n/v8n)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for CPU/edge SBCs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Frame-skipping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model change; smoother 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720840" y="1417320"/>
            <a:ext cx="4983480" cy="4709160"/>
          </a:xfrm>
          <a:prstGeom prst="roundRect">
            <a:avLst>
              <a:gd name="adj" fmla="val 1553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6949440" y="1645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20116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smaller/faster architecture (YOLOv5n, YOLOv8n etc) trained/exported for this deployment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0" y="31623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try using frame-skipping or reducing camera capture quality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49440" y="4122420"/>
            <a:ext cx="4572000" cy="0"/>
          </a:xfrm>
          <a:prstGeom prst="line">
            <a:avLst/>
          </a:prstGeom>
          <a:noFill/>
          <a:ln w="12700">
            <a:solidFill>
              <a:srgbClr val="233A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1148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comparison point: NPU-accelerated inference (AMB82-Mini) vs. optimized CPU inference (Raspberry Pi Zero 2 W).</a:t>
            </a:r>
            <a:endParaRPr lang="en-US" sz="1400" dirty="0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93CCE1BD-C658-B84F-773D-7C022774EDD7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E05741DA-4580-8AD1-FB2F-B64289ED4123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0093" y="35967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PERFORMANCE ITERATION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Iteration: Fine-Tuning YOLO11n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9758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reused: 1,012 train / 347 val images, single class “drone”.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yolo11n.pt (COCO-pretrained) fine-tuned via transfer learning — Kaggle, Tesla T4 GPU.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imgsz=320, batch=16, patience=20; stopped early at epoch 85 (best @ 65), ≈ 15.5 min total.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directly on the two Section 9.9 recommendations: nano architecture + reduced per-frame compute.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0093" y="342393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RESULTS (VALIDATION SET)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084918"/>
              </p:ext>
            </p:extLst>
          </p:nvPr>
        </p:nvGraphicFramePr>
        <p:xfrm>
          <a:off x="531693" y="3794772"/>
          <a:ext cx="4983480" cy="21031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mAP@50–95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23">
            <a:extLst>
              <a:ext uri="{FF2B5EF4-FFF2-40B4-BE49-F238E27FC236}">
                <a16:creationId xmlns:a16="http://schemas.microsoft.com/office/drawing/2014/main" id="{44EE35A0-4090-B15D-62BB-21A1C9660DB9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07F7C3D8-4FBF-B3DB-9667-9C1FECCBA67C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429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PERFORMANCE ITERATION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Export &amp; Application Updates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PYTORCH → NCNN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99580"/>
              </p:ext>
            </p:extLst>
          </p:nvPr>
        </p:nvGraphicFramePr>
        <p:xfrm>
          <a:off x="502920" y="1929384"/>
          <a:ext cx="5760720" cy="15544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.param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.bin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best.pt (PyTorch)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NCNN FP32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9.88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NCNN FP16 (exported, unused)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4.96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7"/>
          <p:cNvSpPr/>
          <p:nvPr/>
        </p:nvSpPr>
        <p:spPr>
          <a:xfrm>
            <a:off x="502920" y="431596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CHANGES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48006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Stream FPS / Inference FPS tracking on the overlay.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tightened: CONF 0.25→0.45, NMS 0.45→0.55.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20840" y="1417320"/>
            <a:ext cx="4983480" cy="4709160"/>
          </a:xfrm>
          <a:prstGeom prst="roundRect">
            <a:avLst>
              <a:gd name="adj" fmla="val 1359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6922008" y="1554480"/>
            <a:ext cx="4581144" cy="858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FRAME-SKIPPING AND REDUCE CAMERA CAPTURE RESOLUTION: TRIED, THEN REMOVED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22008" y="2526792"/>
            <a:ext cx="4581144" cy="3283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iteration added frame-skipping (running inference only every Nth frame, reusing the last detection in between) to cut how often the expensive inference step runs. </a:t>
            </a:r>
          </a:p>
          <a:p>
            <a:pPr marL="0" indent="0">
              <a:buNone/>
            </a:pPr>
            <a:endParaRPr lang="en-US" sz="1400" dirty="0">
              <a:solidFill>
                <a:srgbClr val="DCE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this was found impractical for real-time detection of fast-moving UAVs — a skipped frame can miss a drone that has already moved out of its previous position by the time it's redrawn. </a:t>
            </a:r>
          </a:p>
          <a:p>
            <a:pPr marL="0" indent="0">
              <a:buNone/>
            </a:pPr>
            <a:endParaRPr lang="en-US" sz="1400" dirty="0">
              <a:solidFill>
                <a:srgbClr val="DCE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Frame-skipping has been removed; every measured result going forward runs inference on every frame (“Skip: 1” on the overlay).</a:t>
            </a:r>
          </a:p>
          <a:p>
            <a:pPr marL="0" indent="0">
              <a:buNone/>
            </a:pPr>
            <a:endParaRPr lang="en-US" sz="1400" dirty="0">
              <a:solidFill>
                <a:srgbClr val="DCE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reducing camera capture resolution reduces quality and accuracy making it impractical</a:t>
            </a:r>
            <a:endParaRPr lang="en-US" sz="1400" dirty="0"/>
          </a:p>
        </p:txBody>
      </p:sp>
      <p:sp>
        <p:nvSpPr>
          <p:cNvPr id="15" name="Text 23">
            <a:extLst>
              <a:ext uri="{FF2B5EF4-FFF2-40B4-BE49-F238E27FC236}">
                <a16:creationId xmlns:a16="http://schemas.microsoft.com/office/drawing/2014/main" id="{A2063BA0-42DA-FAD3-A883-B87BC61EF057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4EA8B058-03BC-D580-6485-34DBB2603FBB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93192" y="33375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PERFORMANCE ITERATION</a:t>
            </a:r>
            <a:endParaRPr lang="en-US" sz="1150" dirty="0">
              <a:solidFill>
                <a:srgbClr val="049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Results: YOLOv7-tiny vs. YOLO11n</a:t>
            </a:r>
            <a:endParaRPr lang="en-US" sz="2600" dirty="0"/>
          </a:p>
        </p:txBody>
      </p:sp>
      <p:pic>
        <p:nvPicPr>
          <p:cNvPr id="7" name="Image 0" descr="/home/claude/yolov7_stream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246120" cy="2891998"/>
          </a:xfrm>
          <a:prstGeom prst="rect">
            <a:avLst/>
          </a:prstGeom>
        </p:spPr>
      </p:pic>
      <p:pic>
        <p:nvPicPr>
          <p:cNvPr id="8" name="Image 1" descr="/home/claude/yolo11n_stream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417320"/>
            <a:ext cx="3246120" cy="28919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36418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YOLOv7-tiny (original)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977640" y="436418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(fine-tuned)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103017"/>
              </p:ext>
            </p:extLst>
          </p:nvPr>
        </p:nvGraphicFramePr>
        <p:xfrm>
          <a:off x="502920" y="4855464"/>
          <a:ext cx="6720840" cy="1615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YOLOv7-tiny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 (measured)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~1.7–1.8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~2.6–2.8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~500–545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~300–350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Frame-skipping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(removed — see prior slide)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8138160" y="1417320"/>
            <a:ext cx="1691640" cy="12801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138160" y="15087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+~40%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8211312" y="2313432"/>
            <a:ext cx="1545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FPS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921240" y="1417320"/>
            <a:ext cx="1810512" cy="12801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9921240" y="15087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−~35%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9994392" y="2313432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2880360"/>
            <a:ext cx="3593592" cy="3566160"/>
          </a:xfrm>
          <a:prstGeom prst="roundRect">
            <a:avLst>
              <a:gd name="adj" fmla="val 1795"/>
            </a:avLst>
          </a:prstGeom>
          <a:solidFill>
            <a:srgbClr val="F4F6FA"/>
          </a:solidFill>
          <a:ln/>
        </p:spPr>
      </p:sp>
      <p:sp>
        <p:nvSpPr>
          <p:cNvPr id="21" name="Text 16"/>
          <p:cNvSpPr/>
          <p:nvPr/>
        </p:nvSpPr>
        <p:spPr>
          <a:xfrm>
            <a:off x="8231632" y="3392424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behind the AMB82-Mini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231632" y="3666744"/>
            <a:ext cx="3264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~2.6–2.8 FPS, the Pi/YOLO11n combination remains roughly 2.5–2.7× slower than the AMB82-Mini's approximate ~7.06 FPS (Benchmarking section) — the CPU-vs-NPU gap dominates over the model-choice gain.</a:t>
            </a:r>
            <a:endParaRPr lang="en-US" sz="12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8BF3E1EF-1481-1D69-48FF-864CAE68E152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4CEA183-3850-7511-7591-4D1CD9BDB246}"/>
              </a:ext>
            </a:extLst>
          </p:cNvPr>
          <p:cNvSpPr/>
          <p:nvPr/>
        </p:nvSpPr>
        <p:spPr>
          <a:xfrm>
            <a:off x="1126744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6936" y="3429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OVERVIEW &amp; METHODOLOGYCASE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Benchmarking: AMB82-Mini vs. Raspberry Pi (2 Models)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858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configurations compared: AMB82-Mini (NPU) and Raspberry Pi (CPU) both on YOLOv7-tiny, plus the Pi on a separately fine-tuned YOLO11n.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two effects: hardware (NPU vs. CPU, same model) and model/training choice (same Pi hardware, two models).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controlled, identical-conditions benchmark — each configuration was measured with whatever instrumentation was available.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576218" cy="3063240"/>
          </a:xfrm>
          <a:prstGeom prst="roundRect">
            <a:avLst>
              <a:gd name="adj" fmla="val 2388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52044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AMB82-MINI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947160"/>
            <a:ext cx="32104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NPU (RTL8735B)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YOLOv7-tiny → Realtek .nb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hardware-matched toolchain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07738" y="3337560"/>
            <a:ext cx="3576218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/>
          <p:nvPr/>
        </p:nvSpPr>
        <p:spPr>
          <a:xfrm>
            <a:off x="4490618" y="352044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YOLOV7-TINY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0618" y="3947160"/>
            <a:ext cx="32104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(Cortex-A53)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NCNN FP32, reused as-is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CPU-specific tuning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2557" y="3337560"/>
            <a:ext cx="3576218" cy="3063240"/>
          </a:xfrm>
          <a:prstGeom prst="roundRect">
            <a:avLst>
              <a:gd name="adj" fmla="val 2388"/>
            </a:avLst>
          </a:prstGeom>
          <a:solidFill>
            <a:schemeClr val="bg1"/>
          </a:solidFill>
          <a:ln/>
        </p:spPr>
      </p:sp>
      <p:sp>
        <p:nvSpPr>
          <p:cNvPr id="15" name="Text 13"/>
          <p:cNvSpPr/>
          <p:nvPr/>
        </p:nvSpPr>
        <p:spPr>
          <a:xfrm>
            <a:off x="8295437" y="352044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YOLO11N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5437" y="3947160"/>
            <a:ext cx="32104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(Cortex-A53)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NCNN FP32, fine-tuned nano model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Frame-skipping tried, then removed</a:t>
            </a:r>
            <a:endParaRPr lang="en-US" sz="14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3D17AFC5-6ACE-A484-D718-C5391EB56FF9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7BEE0325-BE58-80A5-4718-A38215C1867E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36255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0581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MEASUREMENT APPROACH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Inference Speed — Three Configurations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76218" cy="4709160"/>
          </a:xfrm>
          <a:prstGeom prst="roundRect">
            <a:avLst>
              <a:gd name="adj" fmla="val 1790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72768"/>
            <a:ext cx="3210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AMB82-MINI — NN 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NPU inference — no app-level hook. NN runtime debug log used instead: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3210458" cy="9144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38328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8952" y="3822192"/>
            <a:ext cx="306415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(approx.)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297680"/>
            <a:ext cx="3210458" cy="9144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38912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4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~142ms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8952" y="4828032"/>
            <a:ext cx="306415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(1÷FPS)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39496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/ approximate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07738" y="1417320"/>
            <a:ext cx="3576218" cy="4709160"/>
          </a:xfrm>
          <a:prstGeom prst="roundRect">
            <a:avLst>
              <a:gd name="adj" fmla="val 1790"/>
            </a:avLst>
          </a:prstGeom>
          <a:solidFill>
            <a:srgbClr val="F4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4490618" y="1572768"/>
            <a:ext cx="3210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YOLOV7-TINY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90618" y="182880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detector.py times inference directly with time.time() around NCNN extractor.extract().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90618" y="3291840"/>
            <a:ext cx="3210458" cy="9144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90618" y="338328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1.7–1.8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63770" y="3822192"/>
            <a:ext cx="306415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90618" y="4297680"/>
            <a:ext cx="3210458" cy="9144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90618" y="438912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500–545ms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63770" y="4828032"/>
            <a:ext cx="306415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inference/frame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90618" y="539496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/ measured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2557" y="1417320"/>
            <a:ext cx="3576218" cy="4709160"/>
          </a:xfrm>
          <a:prstGeom prst="roundRect">
            <a:avLst>
              <a:gd name="adj" fmla="val 1790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8295437" y="1572768"/>
            <a:ext cx="3210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YOLO11N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95437" y="182880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direct-timer method, fine-tuned model, inference on every frame (frame-skip removed).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95437" y="3291840"/>
            <a:ext cx="3210458" cy="91440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95437" y="338328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2.6–2.8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368589" y="3822192"/>
            <a:ext cx="306415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95437" y="4297680"/>
            <a:ext cx="3210458" cy="91440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/>
          <a:effectLst>
            <a:outerShdw blurRad="762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95437" y="438912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300–350ms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368589" y="4828032"/>
            <a:ext cx="306415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inference/frame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95437" y="5394960"/>
            <a:ext cx="32104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/ measured</a:t>
            </a:r>
            <a:endParaRPr lang="en-US" sz="1200" dirty="0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748B3337-D9F7-3EE5-A1BA-E73D88976344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88472AE7-6E04-8CE1-F352-8FA609AB0AE2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36974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0484" y="3459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RESULTS &amp; EXPLANATION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 &amp; Why the Gaps Exist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616854"/>
              </p:ext>
            </p:extLst>
          </p:nvPr>
        </p:nvGraphicFramePr>
        <p:xfrm>
          <a:off x="502920" y="1417320"/>
          <a:ext cx="10972800" cy="13639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AMB82-Mini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(YOLOv7-tiny)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(YOLOv7-tiny)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(YOLO11n)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~7.06 (approx.)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~1.7–1.8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~2.6–2.8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~142 ms (derived)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~500–545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~300–350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337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GAPS EXIST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3657600"/>
            <a:ext cx="3576218" cy="2514600"/>
          </a:xfrm>
          <a:prstGeom prst="roundRect">
            <a:avLst>
              <a:gd name="adj" fmla="val 2545"/>
            </a:avLst>
          </a:prstGeom>
          <a:solidFill>
            <a:schemeClr val="bg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84048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NPU vs. CPU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4315968"/>
            <a:ext cx="321045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Fixed-function silicon (AMB82) vs. general-purpose Cortex-A53 cores doing convolution in software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07738" y="3657600"/>
            <a:ext cx="3576218" cy="2514600"/>
          </a:xfrm>
          <a:prstGeom prst="roundRect">
            <a:avLst>
              <a:gd name="adj" fmla="val 2545"/>
            </a:avLst>
          </a:prstGeom>
          <a:solidFill>
            <a:schemeClr val="bg1"/>
          </a:solidFill>
          <a:ln/>
        </p:spPr>
      </p:sp>
      <p:sp>
        <p:nvSpPr>
          <p:cNvPr id="13" name="Text 10"/>
          <p:cNvSpPr/>
          <p:nvPr/>
        </p:nvSpPr>
        <p:spPr>
          <a:xfrm>
            <a:off x="4490618" y="384048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model, fine-tuned for the task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90618" y="4315968"/>
            <a:ext cx="321045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(≈ 2.6M params) was trained specifically for this deployment; YOLOv7-tiny on the Pi is reused unmodified from the AMB82-oriented weights.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12557" y="3657600"/>
            <a:ext cx="3576218" cy="2514600"/>
          </a:xfrm>
          <a:prstGeom prst="roundRect">
            <a:avLst>
              <a:gd name="adj" fmla="val 2545"/>
            </a:avLst>
          </a:prstGeom>
          <a:solidFill>
            <a:schemeClr val="bg1"/>
          </a:solidFill>
          <a:ln/>
        </p:spPr>
      </p:sp>
      <p:sp>
        <p:nvSpPr>
          <p:cNvPr id="16" name="Text 13"/>
          <p:cNvSpPr/>
          <p:nvPr/>
        </p:nvSpPr>
        <p:spPr>
          <a:xfrm>
            <a:off x="8295437" y="3840480"/>
            <a:ext cx="32104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Frame-skipping: tried, dropped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95437" y="4315968"/>
            <a:ext cx="321045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iteration skipped inference on most frames for speed, but this missed fast-moving drones — all figures here run inference on every frame.</a:t>
            </a:r>
            <a:endParaRPr lang="en-US" sz="14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952471F5-2EC9-0791-9D6C-64C5963522D1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3E64DC66-5A85-12A7-F2B3-8EE4EECB4426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10982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3375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SUMMARY &amp; CAVEATS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Comparison &amp; Limitations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479247"/>
              </p:ext>
            </p:extLst>
          </p:nvPr>
        </p:nvGraphicFramePr>
        <p:xfrm>
          <a:off x="502920" y="1417320"/>
          <a:ext cx="11155680" cy="22860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AMB82-Mini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(YOLOv7-tiny)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(YOLO11n)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NPU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tuned for deployment?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native export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reused as-is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fine-tuned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(visual check)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(visual check)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 0.896 (measured)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 / inference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~7.06 / ~142ms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~1.7–1.8 / ~500–545ms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~2.6–2.8 / ~300–350ms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931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CAVEATS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389120"/>
            <a:ext cx="11185855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controlled benchmark — different tools, times, scenes across all three configurations.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AMB82 FPS is indirect (NN runtime log, not an app-level timer); YOLOv7-tiny/YOLO11n figures on the Pi use matching direct timers.</a:t>
            </a:r>
            <a:r>
              <a:rPr lang="en-US" sz="1400" dirty="0"/>
              <a:t> 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Field/practical performance (distance, fast motion, lighting) may differ from this bench-top comparison for all three configurations.</a:t>
            </a:r>
            <a:endParaRPr lang="en-US" sz="1400" dirty="0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A99C1780-6A9B-5BA5-7F71-FC570C80E0B7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2" name="Text 24">
            <a:extLst>
              <a:ext uri="{FF2B5EF4-FFF2-40B4-BE49-F238E27FC236}">
                <a16:creationId xmlns:a16="http://schemas.microsoft.com/office/drawing/2014/main" id="{BDFC3C69-BDBE-2433-1B7B-CDD865A61E5D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46267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- HANDS-ON ACTIVITIES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Work — Hands-On Activities &amp; Ground Control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541004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blade installation on drone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management on drone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handling &amp; support during testing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with experimentation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with Drone disassembly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881120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PLANNER, TELEMETRY &amp; IMU CALIBRATION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356608"/>
            <a:ext cx="505983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Planner: Ground Control Station for ArduPilot UAVs — configuration, waypoint planning, monitoring, flight-log analysis.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carries UAV status (position, altitude, speed, battery) to the ground station.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calibration ensures accurate accelerometer/gyroscope readings — done on a stable, level surface before flight.</a:t>
            </a:r>
            <a:endParaRPr lang="en-US" sz="1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E0D0B2F-3D38-3332-D68A-41CD111D7696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19E4616D-5833-BC00-F107-66DA7D8660C4}"/>
              </a:ext>
            </a:extLst>
          </p:cNvPr>
          <p:cNvSpPr/>
          <p:nvPr/>
        </p:nvSpPr>
        <p:spPr>
          <a:xfrm>
            <a:off x="5562752" y="901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pic>
        <p:nvPicPr>
          <p:cNvPr id="6" name="Picture 5" descr="Mission Planner |">
            <a:extLst>
              <a:ext uri="{FF2B5EF4-FFF2-40B4-BE49-F238E27FC236}">
                <a16:creationId xmlns:a16="http://schemas.microsoft.com/office/drawing/2014/main" id="{FADE9D30-908A-98DE-5158-2CF8A7E67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932" y="1493520"/>
            <a:ext cx="5726927" cy="3078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52F4DF-F764-C594-AE72-BDF9544350B2}"/>
              </a:ext>
            </a:extLst>
          </p:cNvPr>
          <p:cNvSpPr txBox="1"/>
          <p:nvPr/>
        </p:nvSpPr>
        <p:spPr>
          <a:xfrm>
            <a:off x="5791352" y="47765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Planner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6936" y="32918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- UAV FUNDAMENTALS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76148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UAV Fundamentals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UAV operates without an onboard pilot — remotely controlled or fully autonomous — built from several interconnected subsystems: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2590724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22199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569464"/>
            <a:ext cx="226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Airframe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" y="2834640"/>
            <a:ext cx="2261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7964" y="2057400"/>
            <a:ext cx="2590724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</p:spPr>
      </p:sp>
      <p:sp>
        <p:nvSpPr>
          <p:cNvPr id="13" name="Shape 11"/>
          <p:cNvSpPr/>
          <p:nvPr/>
        </p:nvSpPr>
        <p:spPr>
          <a:xfrm>
            <a:off x="3603676" y="222199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3532556" y="2569464"/>
            <a:ext cx="226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2556" y="2834640"/>
            <a:ext cx="2261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Motors, ESCs, propellers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3008" y="2057400"/>
            <a:ext cx="2590724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8720" y="222199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6397600" y="2569464"/>
            <a:ext cx="226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7600" y="2834640"/>
            <a:ext cx="2261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&amp; controls flight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98051" y="2057400"/>
            <a:ext cx="2590724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</p:spPr>
      </p:sp>
      <p:sp>
        <p:nvSpPr>
          <p:cNvPr id="21" name="Shape 19"/>
          <p:cNvSpPr/>
          <p:nvPr/>
        </p:nvSpPr>
        <p:spPr>
          <a:xfrm>
            <a:off x="9333763" y="222199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9262643" y="2569464"/>
            <a:ext cx="226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62643" y="2834640"/>
            <a:ext cx="2261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positioning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474720"/>
            <a:ext cx="2590724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952" y="363931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986784"/>
            <a:ext cx="226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" y="4251960"/>
            <a:ext cx="2261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Ground/operator data link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67964" y="3474720"/>
            <a:ext cx="2590724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</p:spPr>
      </p:sp>
      <p:sp>
        <p:nvSpPr>
          <p:cNvPr id="29" name="Shape 27"/>
          <p:cNvSpPr/>
          <p:nvPr/>
        </p:nvSpPr>
        <p:spPr>
          <a:xfrm>
            <a:off x="3613836" y="363931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0" name="Text 28"/>
          <p:cNvSpPr/>
          <p:nvPr/>
        </p:nvSpPr>
        <p:spPr>
          <a:xfrm>
            <a:off x="3532556" y="3986784"/>
            <a:ext cx="226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32556" y="4251960"/>
            <a:ext cx="2261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&amp; power mgmt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33008" y="3474720"/>
            <a:ext cx="2590724" cy="1188720"/>
          </a:xfrm>
          <a:prstGeom prst="roundRect">
            <a:avLst>
              <a:gd name="adj" fmla="val 5385"/>
            </a:avLst>
          </a:prstGeom>
          <a:solidFill>
            <a:schemeClr val="bg1"/>
          </a:solidFill>
          <a:ln/>
        </p:spPr>
      </p:sp>
      <p:sp>
        <p:nvSpPr>
          <p:cNvPr id="33" name="Shape 31"/>
          <p:cNvSpPr/>
          <p:nvPr/>
        </p:nvSpPr>
        <p:spPr>
          <a:xfrm>
            <a:off x="6468720" y="3639312"/>
            <a:ext cx="292608" cy="29260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4" name="Text 32"/>
          <p:cNvSpPr/>
          <p:nvPr/>
        </p:nvSpPr>
        <p:spPr>
          <a:xfrm>
            <a:off x="6397600" y="3986784"/>
            <a:ext cx="226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97600" y="4251960"/>
            <a:ext cx="22615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sensors, mission gear</a:t>
            </a:r>
            <a:endParaRPr lang="en-US" sz="12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0C974233-558F-A429-789F-AEBE15EADBDB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9B7DD695-7859-CA5E-6553-94467E0D805B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765861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6776" y="2971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- TYPES OF UAVS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49224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UAVs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80775"/>
              </p:ext>
            </p:extLst>
          </p:nvPr>
        </p:nvGraphicFramePr>
        <p:xfrm>
          <a:off x="502920" y="1463040"/>
          <a:ext cx="649224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Fixed-wing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forward motion; ~1–2 hr, 60–120 km/h; no hover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Surveying, agriculture, mapping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Multirotor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hover; ~15–30 min, 20–50 km/h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Photography, inspection, delivery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Single-rotor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Helicopter-like; higher payload/endurance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Heavy-lift applications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VTOL / Hybrid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takeoff + fixed-wing flight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Long-range mapping, surveillance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84632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size, speed, altitude, and motion pattern vary considerably between types — relevant when building detection datasets.</a:t>
            </a:r>
            <a:endParaRPr lang="en-US" sz="12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C3DC420-C1EE-4A4F-8A0E-D3856B020ACC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604347C-D27F-A0FB-D165-9EDE4D28F0FC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4CA9DB-57B3-9A11-0B9D-F819CEF7C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14" b="7580"/>
          <a:stretch>
            <a:fillRect/>
          </a:stretch>
        </p:blipFill>
        <p:spPr>
          <a:xfrm>
            <a:off x="7435596" y="1377012"/>
            <a:ext cx="4462114" cy="36323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92765D6-13E8-6F69-8710-20EA2436B7C1}"/>
              </a:ext>
            </a:extLst>
          </p:cNvPr>
          <p:cNvSpPr txBox="1"/>
          <p:nvPr/>
        </p:nvSpPr>
        <p:spPr>
          <a:xfrm>
            <a:off x="7435596" y="5192287"/>
            <a:ext cx="4593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UAVs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419482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6936" y="314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- COMPONENTS &amp; COMMS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&amp; Controllers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DRONE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01952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01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" y="1874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1874520"/>
            <a:ext cx="348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 DC — KV, thrust, efficiency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5256" y="24414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23160" y="2441448"/>
            <a:ext cx="348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motor speed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" y="30083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23160" y="3008376"/>
            <a:ext cx="348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Diameter, pitch, material, blades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602736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02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5256" y="35753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23160" y="3575304"/>
            <a:ext cx="348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"brain" — sensor fusion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4169664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169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56" y="4142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23160" y="4142232"/>
            <a:ext cx="348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Li-Po — voltage, capacity, discharge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8728" y="1417320"/>
            <a:ext cx="541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TECHNOLOGIES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934956"/>
              </p:ext>
            </p:extLst>
          </p:nvPr>
        </p:nvGraphicFramePr>
        <p:xfrm>
          <a:off x="6278728" y="1874520"/>
          <a:ext cx="5410048" cy="2103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GHz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range; Wi-Fi interference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GHz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responsive; shorter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Convenient; shorter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4G/5G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Long-distance, needs cellular 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278728" y="4160520"/>
            <a:ext cx="5410048" cy="1737360"/>
          </a:xfrm>
          <a:prstGeom prst="roundRect">
            <a:avLst>
              <a:gd name="adj" fmla="val 3684"/>
            </a:avLst>
          </a:prstGeom>
          <a:solidFill>
            <a:srgbClr val="EAFBF8"/>
          </a:solidFill>
          <a:ln/>
        </p:spPr>
      </p:sp>
      <p:sp>
        <p:nvSpPr>
          <p:cNvPr id="31" name="Text 28"/>
          <p:cNvSpPr/>
          <p:nvPr/>
        </p:nvSpPr>
        <p:spPr>
          <a:xfrm>
            <a:off x="6479896" y="4288536"/>
            <a:ext cx="500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LINK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79896" y="4581144"/>
            <a:ext cx="50077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3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Sensor Data → Decision → Flight Control — supports autonomous flight, obstacle avoidance, and predictive maintenance.</a:t>
            </a:r>
            <a:endParaRPr lang="en-US" sz="14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9B57EA69-6E85-2090-4857-E60C443D8BEA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ED9A0215-ADBD-052B-A37B-FFAAFDDE1718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22292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078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- SIGNAL PATH &amp; RF DETECTION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Signal Path &amp; RF-Based Detection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94944" y="1700784"/>
            <a:ext cx="10801807" cy="0"/>
          </a:xfrm>
          <a:prstGeom prst="line">
            <a:avLst/>
          </a:prstGeom>
          <a:noFill/>
          <a:ln w="25400">
            <a:solidFill>
              <a:srgbClr val="D7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08760"/>
            <a:ext cx="384048" cy="384048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-273787" y="1984248"/>
            <a:ext cx="193746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Input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03221" y="1508760"/>
            <a:ext cx="384048" cy="384048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3221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26515" y="1984248"/>
            <a:ext cx="193746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Signal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03522" y="1508760"/>
            <a:ext cx="384048" cy="384048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3522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6816" y="1984248"/>
            <a:ext cx="193746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Modulation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03824" y="1508760"/>
            <a:ext cx="384048" cy="384048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3824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7117" y="1984248"/>
            <a:ext cx="193746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Transmission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04125" y="1508760"/>
            <a:ext cx="384048" cy="384048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4125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27418" y="1984248"/>
            <a:ext cx="193746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Receiver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4426" y="1508760"/>
            <a:ext cx="384048" cy="384048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4426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27719" y="1984248"/>
            <a:ext cx="193746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304727" y="1508760"/>
            <a:ext cx="384048" cy="384048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04727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28021" y="1984248"/>
            <a:ext cx="193746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382243"/>
              </p:ext>
            </p:extLst>
          </p:nvPr>
        </p:nvGraphicFramePr>
        <p:xfrm>
          <a:off x="502920" y="2926080"/>
          <a:ext cx="11155680" cy="16459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 whether drone-related RF signals are present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the drone via its RF transmissions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Jamming/Mitigation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 the communication/control 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02920" y="4800600"/>
            <a:ext cx="11185855" cy="1280160"/>
          </a:xfrm>
          <a:prstGeom prst="roundRect">
            <a:avLst>
              <a:gd name="adj" fmla="val 5000"/>
            </a:avLst>
          </a:prstGeom>
          <a:solidFill>
            <a:srgbClr val="EAFBF8"/>
          </a:solidFill>
          <a:ln/>
        </p:spPr>
      </p:sp>
      <p:sp>
        <p:nvSpPr>
          <p:cNvPr id="31" name="Text 28"/>
          <p:cNvSpPr/>
          <p:nvPr/>
        </p:nvSpPr>
        <p:spPr>
          <a:xfrm>
            <a:off x="704088" y="4928616"/>
            <a:ext cx="107835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VS. RF — RELEVANCE TO THIS PROJECT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04088" y="5221224"/>
            <a:ext cx="1078351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3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YOLOv7-tiny/NCNN pipeline is vision-based (detects appearance in camera frames), while RF detection senses the drone-controller radio link. The two are complementary, not interchangeable.</a:t>
            </a:r>
            <a:endParaRPr lang="en-US" sz="12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BF8678ED-A71E-59B1-B1CE-D7353839F0B1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72462AED-ABC9-7388-80E1-6995E7FE23A7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289031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5535" y="3429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kern="0" spc="2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- COMPONENTS OBSERVED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85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Observed &amp; Drone Manufacturing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OBSERVED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57607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GPS/GNSS — positioning and navigation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 board — processes sensor data, drives motors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— powers propulsion, control, comms, payload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Transmitter/receiver — operator ↔ UAV link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Camera/sensors — potential AI-detection 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739896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4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CONSTRUCTION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215384"/>
            <a:ext cx="533095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airframe design, integration, assembly, calibration, testing.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fiber common for frames — high strength-to-weight ratio.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affects power consumption, payload, and endurance.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build: frame, motors, propellers, ESCs, flight controller, battery, receiver.</a:t>
            </a:r>
            <a:endParaRPr lang="en-US" sz="1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D529E87-2064-DE37-BD8C-088426D59AAF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lang="en-US" sz="9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E53672A1-14FA-4628-A899-381F6741A7DC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pic>
        <p:nvPicPr>
          <p:cNvPr id="19" name="Picture 18" descr="Drone Parts Explained: Every Component and Its Role – Robocraze">
            <a:extLst>
              <a:ext uri="{FF2B5EF4-FFF2-40B4-BE49-F238E27FC236}">
                <a16:creationId xmlns:a16="http://schemas.microsoft.com/office/drawing/2014/main" id="{3B0561DB-7A4D-8BD5-3EF9-0C4853450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554480"/>
            <a:ext cx="5683442" cy="37889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BAF2C4A-91CF-0021-4838-6AEB8E7F2192}"/>
              </a:ext>
            </a:extLst>
          </p:cNvPr>
          <p:cNvSpPr txBox="1"/>
          <p:nvPr/>
        </p:nvSpPr>
        <p:spPr>
          <a:xfrm>
            <a:off x="5889568" y="543279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Components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200" normalizeH="0" baseline="0" noProof="0" dirty="0">
                <a:ln>
                  <a:noFill/>
                </a:ln>
                <a:solidFill>
                  <a:srgbClr val="0496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Spanning the research phase, both hardware case studies, the YOLO11n iteration, and cross-platform benchmarking.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820157"/>
              </p:ext>
            </p:extLst>
          </p:nvPr>
        </p:nvGraphicFramePr>
        <p:xfrm>
          <a:off x="502920" y="1600200"/>
          <a:ext cx="11201400" cy="476300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101600" marR="101600" marT="63500" marB="635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101600" marR="101600" marT="63500" marB="635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Lesson</a:t>
                      </a:r>
                    </a:p>
                  </a:txBody>
                  <a:tcPr marL="101600" marR="101600" marT="63500" marB="635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49688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Arduino IDE instability on ESP32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B82"/>
                          </a:solidFill>
                          <a:latin typeface="Calibri"/>
                        </a:rPr>
                        <a:t>Official SDKs (ESP-IDF) offer far more control and reliability for real firmware work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No OS on firmware-only boards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B82"/>
                          </a:solidFill>
                          <a:latin typeface="Calibri"/>
                        </a:rPr>
                        <a:t>Environment setup (drivers, SDKs, packages) is complex — budget for it early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Tight compute/memory budgets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B82"/>
                          </a:solidFill>
                          <a:latin typeface="Calibri"/>
                        </a:rPr>
                        <a:t>Optimization (quantization, pruning) isn't optional — it's core to the pipeline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AMB82-Mini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Reparameterization needs a GPU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B82"/>
                          </a:solidFill>
                          <a:latin typeface="Calibri"/>
                        </a:rPr>
                        <a:t>Failed on a local CPU-only machine; Kaggle's free GPU runtime worked without issue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AMB82-Mini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Undocumented </a:t>
                      </a:r>
                      <a:r>
                        <a:rPr sz="1200" b="0" dirty="0" err="1">
                          <a:solidFill>
                            <a:srgbClr val="1B2A4A"/>
                          </a:solidFill>
                          <a:latin typeface="Calibri"/>
                        </a:rPr>
                        <a:t>PyTorch</a:t>
                      </a:r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 break</a:t>
                      </a:r>
                      <a:r>
                        <a:rPr lang="en-US"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 in </a:t>
                      </a:r>
                      <a:r>
                        <a:rPr lang="en-US" sz="1200" b="0" dirty="0" err="1">
                          <a:solidFill>
                            <a:srgbClr val="1B2A4A"/>
                          </a:solidFill>
                          <a:latin typeface="Calibri"/>
                        </a:rPr>
                        <a:t>reparam</a:t>
                      </a:r>
                      <a:r>
                        <a:rPr lang="en-US"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 script</a:t>
                      </a:r>
                      <a:endParaRPr sz="12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B6B82"/>
                          </a:solidFill>
                          <a:latin typeface="Calibri"/>
                        </a:rPr>
                        <a:t>Newer </a:t>
                      </a:r>
                      <a:r>
                        <a:rPr sz="1200" b="0" dirty="0" err="1">
                          <a:solidFill>
                            <a:srgbClr val="5B6B82"/>
                          </a:solidFill>
                          <a:latin typeface="Calibri"/>
                        </a:rPr>
                        <a:t>torch.load</a:t>
                      </a:r>
                      <a:r>
                        <a:rPr sz="1200" b="0" dirty="0">
                          <a:solidFill>
                            <a:srgbClr val="5B6B82"/>
                          </a:solidFill>
                          <a:latin typeface="Calibri"/>
                        </a:rPr>
                        <a:t> defaults broke the </a:t>
                      </a:r>
                      <a:r>
                        <a:rPr sz="1200" b="0" dirty="0" err="1">
                          <a:solidFill>
                            <a:srgbClr val="5B6B82"/>
                          </a:solidFill>
                          <a:latin typeface="Calibri"/>
                        </a:rPr>
                        <a:t>reparam</a:t>
                      </a:r>
                      <a:r>
                        <a:rPr sz="1200" b="0" dirty="0">
                          <a:solidFill>
                            <a:srgbClr val="5B6B82"/>
                          </a:solidFill>
                          <a:latin typeface="Calibri"/>
                        </a:rPr>
                        <a:t> script — fixed with a one-line patch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AMB82-Mini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Limited dataset size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B6B82"/>
                          </a:solidFill>
                          <a:latin typeface="Calibri"/>
                        </a:rPr>
                        <a:t>Impacted precision/recall stability — more training data is the clearest next lever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Raspberry Pi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CSI camera stack too immature</a:t>
                      </a:r>
                      <a:r>
                        <a:rPr lang="en-US" sz="1200" b="0" dirty="0">
                          <a:solidFill>
                            <a:srgbClr val="1B2A4A"/>
                          </a:solidFill>
                          <a:latin typeface="Calibri"/>
                        </a:rPr>
                        <a:t> on ubuntu</a:t>
                      </a:r>
                      <a:endParaRPr sz="1200" b="0" dirty="0">
                        <a:solidFill>
                          <a:srgbClr val="1B2A4A"/>
                        </a:solidFill>
                        <a:latin typeface="Calibri"/>
                      </a:endParaRP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B82"/>
                          </a:solidFill>
                          <a:latin typeface="Calibri"/>
                        </a:rPr>
                        <a:t>USB/UVC cameras are far more portable across embedded Linux targets than CSI+ISP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Raspberry Pi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No prebuilt NCNN for this target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B82"/>
                          </a:solidFill>
                          <a:latin typeface="Calibri"/>
                        </a:rPr>
                        <a:t>Budget real time for building inference runtimes from source on niche SBCs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Model Iteration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Frame-skipping broke fast targets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B6B82"/>
                          </a:solidFill>
                          <a:latin typeface="Calibri"/>
                        </a:rPr>
                        <a:t>Latency tricks can hurt reliability — validate against the real use case, not just FPS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Benchmarking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AMB82 NPU has no timing hook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B6B82"/>
                          </a:solidFill>
                          <a:latin typeface="Calibri"/>
                        </a:rPr>
                        <a:t>Plan for benchmarking access (timing hooks/logs) during hardware selection, not after</a:t>
                      </a:r>
                    </a:p>
                  </a:txBody>
                  <a:tcPr marL="101600" marR="101600" marT="63500" marB="635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49688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Same weights, very different results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B6B82"/>
                          </a:solidFill>
                          <a:latin typeface="Calibri"/>
                        </a:rPr>
                        <a:t>Model accuracy and hardware/runtime fit are inseparable — an accurate model can still be unusable on the wrong target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200" normalizeH="0" baseline="0" noProof="0" dirty="0">
                <a:ln>
                  <a:noFill/>
                </a:ln>
                <a:solidFill>
                  <a:srgbClr val="0496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02920" y="150876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67512" y="1655063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165506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2020824"/>
            <a:ext cx="23477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Pipeline Architecture Defined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2478024"/>
            <a:ext cx="234772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Build-time and run-time flow fully mapped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44418" y="150876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509010" y="1655063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09010" y="165506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9010" y="2020824"/>
            <a:ext cx="23477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Hardware Landscape Mapped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09010" y="2478024"/>
            <a:ext cx="234772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Capabilities &amp; constraints compared across 3 target boards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5916" y="150876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350508" y="1655063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50508" y="165506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508" y="2020824"/>
            <a:ext cx="234772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AMB82-Mini: Trained &amp; Deployed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0508" y="2478024"/>
            <a:ext cx="234772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YOLOv7-tiny drone detector, converted and flashed to NPU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27414" y="150876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92006" y="1655063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92006" y="1655063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2006" y="2020824"/>
            <a:ext cx="234772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AMB82-Mini: Live Detection Verified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92006" y="2478024"/>
            <a:ext cx="234772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Real-time RTSP detection confirmed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315468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67512" y="3300984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" y="3300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" y="3666744"/>
            <a:ext cx="234772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Raspberry Pi: Deployed &amp; Benchmarked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" y="4123944"/>
            <a:ext cx="234772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YOLOv7-tiny via NCNN — ~1.7–2.0 FPS, ~500–545 </a:t>
            </a:r>
            <a:r>
              <a:rPr sz="1200" b="0" i="0" dirty="0" err="1">
                <a:solidFill>
                  <a:srgbClr val="5B6B82"/>
                </a:solidFill>
                <a:latin typeface="Calibri"/>
              </a:rPr>
              <a:t>ms</a:t>
            </a:r>
            <a:r>
              <a:rPr sz="1200" b="0" i="0" dirty="0">
                <a:solidFill>
                  <a:srgbClr val="5B6B82"/>
                </a:solidFill>
                <a:latin typeface="Calibri"/>
              </a:rPr>
              <a:t>/frame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44418" y="315468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509010" y="3300984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09010" y="3300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09010" y="3666744"/>
            <a:ext cx="234772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Raspberry Pi: YOLO11n Fine-Tuned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09010" y="4123944"/>
            <a:ext cx="234772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mAP50 0.896 — ~2.6–2.8 FPS, ~300–350 </a:t>
            </a:r>
            <a:r>
              <a:rPr sz="1200" b="0" i="0" dirty="0" err="1">
                <a:solidFill>
                  <a:srgbClr val="5B6B82"/>
                </a:solidFill>
                <a:latin typeface="Calibri"/>
              </a:rPr>
              <a:t>ms</a:t>
            </a:r>
            <a:r>
              <a:rPr sz="1200" b="0" i="0" dirty="0">
                <a:solidFill>
                  <a:srgbClr val="5B6B82"/>
                </a:solidFill>
                <a:latin typeface="Calibri"/>
              </a:rPr>
              <a:t>/frame (~40% faster)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85916" y="315468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350508" y="3300984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50508" y="3300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0508" y="3666744"/>
            <a:ext cx="234772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Three-Way Performance Benchmark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0508" y="4123944"/>
            <a:ext cx="234772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AMB82-Mini (NPU) vs. Pi × 2 models (CPU) compared on speed &amp; accuracy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27414" y="3154680"/>
            <a:ext cx="2676906" cy="14813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192006" y="3300984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92006" y="3300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92006" y="3666744"/>
            <a:ext cx="23477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Full Documentation Written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92006" y="4123944"/>
            <a:ext cx="234772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Both case studies, drone fundamentals, and benchmarking sections all documented</a:t>
            </a:r>
          </a:p>
        </p:txBody>
      </p:sp>
      <p:sp>
        <p:nvSpPr>
          <p:cNvPr id="80" name="Oval 79"/>
          <p:cNvSpPr/>
          <p:nvPr/>
        </p:nvSpPr>
        <p:spPr>
          <a:xfrm>
            <a:off x="10317175" y="4617720"/>
            <a:ext cx="2194560" cy="2194560"/>
          </a:xfrm>
          <a:prstGeom prst="ellipse">
            <a:avLst/>
          </a:prstGeom>
          <a:solidFill>
            <a:srgbClr val="2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502920" y="4846320"/>
            <a:ext cx="11201400" cy="960120"/>
          </a:xfrm>
          <a:prstGeom prst="roundRect">
            <a:avLst>
              <a:gd name="adj" fmla="val 95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77240" y="4956048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 dirty="0">
                <a:solidFill>
                  <a:srgbClr val="00C2A8"/>
                </a:solidFill>
                <a:latin typeface="Calibri"/>
              </a:rPr>
              <a:t>BOTTOM LINE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7240" y="5230368"/>
            <a:ext cx="10607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The pipeline is now validated end-to-end on two hardware targets — the NPU-accelerated AMB82-Mini and the CPU-only Raspberry Pi Zero 2W — across three model configurations, benchmarked head-to-head and grounded in full drone-fundamentals research and hands-on lab work.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200" normalizeH="0" baseline="0" noProof="0" dirty="0">
                <a:ln>
                  <a:noFill/>
                </a:ln>
                <a:solidFill>
                  <a:srgbClr val="0496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Conclusion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50" normalizeH="0" baseline="0" noProof="0" dirty="0">
                <a:ln>
                  <a:noFill/>
                </a:ln>
                <a:solidFill>
                  <a:srgbClr val="0496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 PIPELINE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C9A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02920" y="1614808"/>
            <a:ext cx="365760" cy="36576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16148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1596520"/>
            <a:ext cx="10652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Hardware fit</a:t>
            </a:r>
            <a:r>
              <a:rPr lang="en-US" sz="1400" b="1" i="0" dirty="0">
                <a:solidFill>
                  <a:srgbClr val="1B2A4A"/>
                </a:solidFill>
                <a:latin typeface="Calibri"/>
              </a:rPr>
              <a:t> and optimization</a:t>
            </a:r>
            <a:r>
              <a:rPr sz="1400" b="1" i="0" dirty="0">
                <a:solidFill>
                  <a:srgbClr val="1B2A4A"/>
                </a:solidFill>
                <a:latin typeface="Calibri"/>
              </a:rPr>
              <a:t> matters as much as model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1889128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The same YOLOv7-tiny weights ran ~4× faster on the AMB82-Mini's NPU than on the Pi's CPU — raw compute architecture dominated throughput more than any single software change.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2514311"/>
            <a:ext cx="365760" cy="36576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51431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496023"/>
            <a:ext cx="10652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Fine-tuning a nano model closes part of the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2788631"/>
            <a:ext cx="10652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Swapping to a purpose-trained YOLO11n cut Pi inference time ~35% and lifted FPS ~40% over the reused YOLOv7-tiny weights — entirely from software-side choices.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3278342"/>
            <a:ext cx="365760" cy="36576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27834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260054"/>
            <a:ext cx="10652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Optimization tricks must match the real use 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552662"/>
            <a:ext cx="10652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5B6B82"/>
                </a:solidFill>
                <a:latin typeface="Calibri"/>
              </a:rPr>
              <a:t>Frame-skipping looked like a free win on paper but was dropped once tested against fast-moving UAV targets, where a skipped frame can miss the subject entirely.</a:t>
            </a:r>
          </a:p>
        </p:txBody>
      </p:sp>
      <p:sp>
        <p:nvSpPr>
          <p:cNvPr id="39" name="Oval 38"/>
          <p:cNvSpPr/>
          <p:nvPr/>
        </p:nvSpPr>
        <p:spPr>
          <a:xfrm>
            <a:off x="10454335" y="4645152"/>
            <a:ext cx="2011680" cy="2011680"/>
          </a:xfrm>
          <a:prstGeom prst="ellipse">
            <a:avLst/>
          </a:prstGeom>
          <a:solidFill>
            <a:srgbClr val="2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02920" y="4553712"/>
            <a:ext cx="11201400" cy="1554480"/>
          </a:xfrm>
          <a:prstGeom prst="roundRect">
            <a:avLst>
              <a:gd name="adj" fmla="val 75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4690872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150" dirty="0">
                <a:solidFill>
                  <a:srgbClr val="00C2A8"/>
                </a:solidFill>
                <a:latin typeface="Calibri"/>
              </a:rPr>
              <a:t>CONCLUSION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983480"/>
            <a:ext cx="106070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This project has validated the same edge-AI drone-detection pipeline across two fundamentally different hardware targets — the NPU-accelerated AMB82-Mini and the CPU-only Raspberry Pi Zero 2W — and, on the Pi, across two model choices. With INT8 quantization, real-flight testing, and a formal YOLOv7-tiny accuracy evaluation as the clear next steps, the project has an evidence-based picture of the real accuracy/speed/hardware trade-offs in deploying computer vision at the edge.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4343400"/>
            <a:ext cx="3511296" cy="3511296"/>
          </a:xfrm>
          <a:prstGeom prst="ellipse">
            <a:avLst/>
          </a:prstGeom>
          <a:solidFill>
            <a:srgbClr val="2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9921240" y="1005840"/>
            <a:ext cx="1554480" cy="1554480"/>
          </a:xfrm>
          <a:prstGeom prst="ellipse">
            <a:avLst/>
          </a:prstGeom>
          <a:solidFill>
            <a:srgbClr val="2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96012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THANK YOU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7772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AEC0D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 AI Deployment Pipeline for Resource-Constrained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100" normalizeH="0" baseline="0" noProof="0">
                <a:ln>
                  <a:noFill/>
                </a:ln>
                <a:solidFill>
                  <a:srgbClr val="7E90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 AI DEPLOYMENT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7E90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6188</Words>
  <Application>Microsoft Office PowerPoint</Application>
  <PresentationFormat>Widescreen</PresentationFormat>
  <Paragraphs>1141</Paragraphs>
  <Slides>50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M. Adil Nadeem</cp:lastModifiedBy>
  <cp:revision>43</cp:revision>
  <dcterms:created xsi:type="dcterms:W3CDTF">2026-08-19T09:46:47Z</dcterms:created>
  <dcterms:modified xsi:type="dcterms:W3CDTF">2026-08-27T08:18:46Z</dcterms:modified>
</cp:coreProperties>
</file>